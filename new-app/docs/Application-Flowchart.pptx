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F6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46304"/>
            <a:ext cx="7772400" cy="329184"/>
          </a:xfrm>
          <a:prstGeom prst="rect">
            <a:avLst/>
          </a:prstGeom>
          <a:noFill/>
        </p:spPr>
        <p:txBody>
          <a:bodyPr wrap="square">
            <a:spAutoFit/>
          </a:bodyPr>
          <a:lstStyle/>
          <a:p>
            <a:pPr algn="l"/>
            <a:r>
              <a:rPr sz="2200" b="1">
                <a:solidFill>
                  <a:srgbClr val="1E3A5F"/>
                </a:solidFill>
                <a:latin typeface="Calibri"/>
              </a:rPr>
              <a:t>How the application works</a:t>
            </a:r>
          </a:p>
        </p:txBody>
      </p:sp>
      <p:sp>
        <p:nvSpPr>
          <p:cNvPr id="5" name="TextBox 4"/>
          <p:cNvSpPr txBox="1"/>
          <p:nvPr/>
        </p:nvSpPr>
        <p:spPr>
          <a:xfrm>
            <a:off x="7680960" y="201168"/>
            <a:ext cx="4206240" cy="274320"/>
          </a:xfrm>
          <a:prstGeom prst="rect">
            <a:avLst/>
          </a:prstGeom>
          <a:noFill/>
        </p:spPr>
        <p:txBody>
          <a:bodyPr wrap="square">
            <a:spAutoFit/>
          </a:bodyPr>
          <a:lstStyle/>
          <a:p>
            <a:pPr algn="l"/>
            <a:r>
              <a:rPr sz="1200" b="0">
                <a:solidFill>
                  <a:srgbClr val="3F4A5A"/>
                </a:solidFill>
                <a:latin typeface="Calibri"/>
              </a:rPr>
              <a:t>Page 1 of 5   ·   You prepare the files</a:t>
            </a:r>
          </a:p>
        </p:txBody>
      </p:sp>
      <p:sp>
        <p:nvSpPr>
          <p:cNvPr id="6" name="Terminator 5"/>
          <p:cNvSpPr/>
          <p:nvPr/>
        </p:nvSpPr>
        <p:spPr>
          <a:xfrm>
            <a:off x="320040" y="621792"/>
            <a:ext cx="292608" cy="237744"/>
          </a:xfrm>
          <a:prstGeom prst="flowChartTerminator">
            <a:avLst/>
          </a:prstGeom>
          <a:solidFill>
            <a:srgbClr val="FFFFFF"/>
          </a:solidFill>
          <a:ln>
            <a:solidFill>
              <a:srgbClr val="1B7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 y="603504"/>
            <a:ext cx="1965960" cy="274320"/>
          </a:xfrm>
          <a:prstGeom prst="rect">
            <a:avLst/>
          </a:prstGeom>
          <a:noFill/>
        </p:spPr>
        <p:txBody>
          <a:bodyPr wrap="square">
            <a:spAutoFit/>
          </a:bodyPr>
          <a:lstStyle/>
          <a:p>
            <a:pPr algn="l"/>
            <a:r>
              <a:rPr sz="1100" b="0">
                <a:solidFill>
                  <a:srgbClr val="3F4A5A"/>
                </a:solidFill>
                <a:latin typeface="Calibri"/>
              </a:rPr>
              <a:t>Oval   Start or end</a:t>
            </a:r>
          </a:p>
        </p:txBody>
      </p:sp>
      <p:sp>
        <p:nvSpPr>
          <p:cNvPr id="8" name="Process 7"/>
          <p:cNvSpPr/>
          <p:nvPr/>
        </p:nvSpPr>
        <p:spPr>
          <a:xfrm>
            <a:off x="2651760" y="621792"/>
            <a:ext cx="292608" cy="237744"/>
          </a:xfrm>
          <a:prstGeom prst="flowChartProcess">
            <a:avLst/>
          </a:prstGeom>
          <a:solidFill>
            <a:srgbClr val="FFFFFF"/>
          </a:solidFill>
          <a:ln>
            <a:solidFill>
              <a:srgbClr val="1D4E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80944" y="603504"/>
            <a:ext cx="1965960" cy="274320"/>
          </a:xfrm>
          <a:prstGeom prst="rect">
            <a:avLst/>
          </a:prstGeom>
          <a:noFill/>
        </p:spPr>
        <p:txBody>
          <a:bodyPr wrap="square">
            <a:spAutoFit/>
          </a:bodyPr>
          <a:lstStyle/>
          <a:p>
            <a:pPr algn="l"/>
            <a:r>
              <a:rPr sz="1100" b="0">
                <a:solidFill>
                  <a:srgbClr val="3F4A5A"/>
                </a:solidFill>
                <a:latin typeface="Calibri"/>
              </a:rPr>
              <a:t>Rectangle   A step</a:t>
            </a:r>
          </a:p>
        </p:txBody>
      </p:sp>
      <p:sp>
        <p:nvSpPr>
          <p:cNvPr id="10" name="Decision 9"/>
          <p:cNvSpPr/>
          <p:nvPr/>
        </p:nvSpPr>
        <p:spPr>
          <a:xfrm>
            <a:off x="4983479" y="621792"/>
            <a:ext cx="292608" cy="237744"/>
          </a:xfrm>
          <a:prstGeom prst="flowChartDecision">
            <a:avLst/>
          </a:prstGeom>
          <a:solidFill>
            <a:srgbClr val="FFFFFF"/>
          </a:solidFill>
          <a:ln>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12664" y="603504"/>
            <a:ext cx="1965960" cy="274320"/>
          </a:xfrm>
          <a:prstGeom prst="rect">
            <a:avLst/>
          </a:prstGeom>
          <a:noFill/>
        </p:spPr>
        <p:txBody>
          <a:bodyPr wrap="square">
            <a:spAutoFit/>
          </a:bodyPr>
          <a:lstStyle/>
          <a:p>
            <a:pPr algn="l"/>
            <a:r>
              <a:rPr sz="1100" b="0">
                <a:solidFill>
                  <a:srgbClr val="3F4A5A"/>
                </a:solidFill>
                <a:latin typeface="Calibri"/>
              </a:rPr>
              <a:t>Diamond   Yes or no</a:t>
            </a:r>
          </a:p>
        </p:txBody>
      </p:sp>
      <p:sp>
        <p:nvSpPr>
          <p:cNvPr id="12" name="Data 11"/>
          <p:cNvSpPr/>
          <p:nvPr/>
        </p:nvSpPr>
        <p:spPr>
          <a:xfrm>
            <a:off x="7315199" y="621792"/>
            <a:ext cx="292608" cy="237744"/>
          </a:xfrm>
          <a:prstGeom prst="flowChartInputOutput">
            <a:avLst/>
          </a:prstGeom>
          <a:solidFill>
            <a:srgbClr val="FFFFFF"/>
          </a:solidFill>
          <a:ln>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44383" y="603504"/>
            <a:ext cx="1965960" cy="274320"/>
          </a:xfrm>
          <a:prstGeom prst="rect">
            <a:avLst/>
          </a:prstGeom>
          <a:noFill/>
        </p:spPr>
        <p:txBody>
          <a:bodyPr wrap="square">
            <a:spAutoFit/>
          </a:bodyPr>
          <a:lstStyle/>
          <a:p>
            <a:pPr algn="l"/>
            <a:r>
              <a:rPr sz="1100" b="0">
                <a:solidFill>
                  <a:srgbClr val="3F4A5A"/>
                </a:solidFill>
                <a:latin typeface="Calibri"/>
              </a:rPr>
              <a:t>Slanted   Files you add</a:t>
            </a:r>
          </a:p>
        </p:txBody>
      </p:sp>
      <p:sp>
        <p:nvSpPr>
          <p:cNvPr id="14" name="Document 13"/>
          <p:cNvSpPr/>
          <p:nvPr/>
        </p:nvSpPr>
        <p:spPr>
          <a:xfrm>
            <a:off x="9646919" y="621792"/>
            <a:ext cx="292608" cy="237744"/>
          </a:xfrm>
          <a:prstGeom prst="flowChartDocument">
            <a:avLst/>
          </a:prstGeom>
          <a:solidFill>
            <a:srgbClr val="FFFFFF"/>
          </a:solidFill>
          <a:ln>
            <a:solidFill>
              <a:srgbClr val="0F6E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76103" y="603504"/>
            <a:ext cx="1965960" cy="274320"/>
          </a:xfrm>
          <a:prstGeom prst="rect">
            <a:avLst/>
          </a:prstGeom>
          <a:noFill/>
        </p:spPr>
        <p:txBody>
          <a:bodyPr wrap="square">
            <a:spAutoFit/>
          </a:bodyPr>
          <a:lstStyle/>
          <a:p>
            <a:pPr algn="l"/>
            <a:r>
              <a:rPr sz="1100" b="0">
                <a:solidFill>
                  <a:srgbClr val="3F4A5A"/>
                </a:solidFill>
                <a:latin typeface="Calibri"/>
              </a:rPr>
              <a:t>Document   File produced</a:t>
            </a:r>
          </a:p>
        </p:txBody>
      </p:sp>
      <p:sp>
        <p:nvSpPr>
          <p:cNvPr id="16" name="Terminator 15"/>
          <p:cNvSpPr/>
          <p:nvPr/>
        </p:nvSpPr>
        <p:spPr>
          <a:xfrm>
            <a:off x="320040" y="1051560"/>
            <a:ext cx="1554480" cy="658368"/>
          </a:xfrm>
          <a:prstGeom prst="flowChartTerminator">
            <a:avLst/>
          </a:prstGeom>
          <a:solidFill>
            <a:srgbClr val="1B7A4A"/>
          </a:solidFill>
          <a:ln w="1587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b="1" sz="1300">
                <a:solidFill>
                  <a:srgbClr val="145C38"/>
                </a:solidFill>
                <a:latin typeface="Calibri"/>
              </a:rPr>
              <a:t>Start</a:t>
            </a:r>
          </a:p>
        </p:txBody>
      </p:sp>
      <p:sp>
        <p:nvSpPr>
          <p:cNvPr id="17" name="Process 16"/>
          <p:cNvSpPr/>
          <p:nvPr/>
        </p:nvSpPr>
        <p:spPr>
          <a:xfrm>
            <a:off x="2194560" y="1024128"/>
            <a:ext cx="4297680" cy="713232"/>
          </a:xfrm>
          <a:prstGeom prst="flowChartProcess">
            <a:avLst/>
          </a:prstGeom>
          <a:solidFill>
            <a:srgbClr val="E7F0FB"/>
          </a:solidFill>
          <a:ln w="15875">
            <a:solidFill>
              <a:srgbClr val="1D4E89"/>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b="1" sz="1300">
                <a:solidFill>
                  <a:srgbClr val="1D4E89"/>
                </a:solidFill>
                <a:latin typeface="Calibri"/>
              </a:rPr>
              <a:t>You</a:t>
            </a:r>
          </a:p>
          <a:p>
            <a:pPr algn="ctr">
              <a:spcBef>
                <a:spcPts val="200"/>
              </a:spcBef>
            </a:pPr>
            <a:r>
              <a:rPr sz="1200">
                <a:solidFill>
                  <a:srgbClr val="1C1917"/>
                </a:solidFill>
                <a:latin typeface="Calibri"/>
              </a:rPr>
              <a:t>Open the application in the browser</a:t>
            </a:r>
          </a:p>
        </p:txBody>
      </p:sp>
      <p:sp>
        <p:nvSpPr>
          <p:cNvPr id="18" name="Data 17"/>
          <p:cNvSpPr/>
          <p:nvPr/>
        </p:nvSpPr>
        <p:spPr>
          <a:xfrm>
            <a:off x="6812280" y="1005840"/>
            <a:ext cx="5029200" cy="749808"/>
          </a:xfrm>
          <a:prstGeom prst="flowChartInputOutput">
            <a:avLst/>
          </a:prstGeom>
          <a:solidFill>
            <a:srgbClr val="EEF2FF"/>
          </a:solidFill>
          <a:ln w="15875">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b="1" sz="1300">
                <a:solidFill>
                  <a:srgbClr val="4338CA"/>
                </a:solidFill>
                <a:latin typeface="Calibri"/>
              </a:rPr>
              <a:t>You</a:t>
            </a:r>
          </a:p>
          <a:p>
            <a:pPr algn="ctr">
              <a:spcBef>
                <a:spcPts val="200"/>
              </a:spcBef>
            </a:pPr>
            <a:r>
              <a:rPr sz="1200">
                <a:solidFill>
                  <a:srgbClr val="1C1917"/>
                </a:solidFill>
                <a:latin typeface="Calibri"/>
              </a:rPr>
              <a:t>Upload PDFs and the valuation log Excel, or paste the folder path</a:t>
            </a:r>
          </a:p>
        </p:txBody>
      </p:sp>
      <p:cxnSp>
        <p:nvCxnSpPr>
          <p:cNvPr id="19" name="Connector 18"/>
          <p:cNvCxnSpPr/>
          <p:nvPr/>
        </p:nvCxnSpPr>
        <p:spPr>
          <a:xfrm>
            <a:off x="1874519" y="1380744"/>
            <a:ext cx="320041" cy="0"/>
          </a:xfrm>
          <a:prstGeom prst="line">
            <a:avLst/>
          </a:prstGeom>
          <a:ln w="22225">
            <a:solidFill>
              <a:srgbClr val="0F6E6B"/>
            </a:solidFill>
            <a:tailEnd type="triangle" w="med" len="med"/>
          </a:ln>
        </p:spPr>
      </p:cxnSp>
      <p:cxnSp>
        <p:nvCxnSpPr>
          <p:cNvPr id="20" name="Connector 19"/>
          <p:cNvCxnSpPr/>
          <p:nvPr/>
        </p:nvCxnSpPr>
        <p:spPr>
          <a:xfrm>
            <a:off x="6492240" y="1380744"/>
            <a:ext cx="320040" cy="0"/>
          </a:xfrm>
          <a:prstGeom prst="line">
            <a:avLst/>
          </a:prstGeom>
          <a:ln w="22225">
            <a:solidFill>
              <a:srgbClr val="0F6E6B"/>
            </a:solidFill>
            <a:tailEnd type="triangle" w="med" len="med"/>
          </a:ln>
        </p:spPr>
      </p:cxnSp>
      <p:sp>
        <p:nvSpPr>
          <p:cNvPr id="21" name="Process 20"/>
          <p:cNvSpPr/>
          <p:nvPr/>
        </p:nvSpPr>
        <p:spPr>
          <a:xfrm>
            <a:off x="1554480" y="2011680"/>
            <a:ext cx="9052560" cy="777240"/>
          </a:xfrm>
          <a:prstGeom prst="flowChartProcess">
            <a:avLst/>
          </a:prstGeom>
          <a:solidFill>
            <a:srgbClr val="E5F6F4"/>
          </a:solidFill>
          <a:ln w="15875">
            <a:solidFill>
              <a:srgbClr val="0F6E6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b="1" sz="1300">
                <a:solidFill>
                  <a:srgbClr val="0F6E6B"/>
                </a:solidFill>
                <a:latin typeface="Calibri"/>
              </a:rPr>
              <a:t>Application</a:t>
            </a:r>
          </a:p>
          <a:p>
            <a:pPr algn="ctr">
              <a:spcBef>
                <a:spcPts val="200"/>
              </a:spcBef>
            </a:pPr>
            <a:r>
              <a:rPr sz="1300">
                <a:solidFill>
                  <a:srgbClr val="1C1917"/>
                </a:solidFill>
                <a:latin typeface="Calibri"/>
              </a:rPr>
              <a:t>List every file. A multi-page cover splits into named pages. A 401(k) BRF report is left out. A 403(b) report stays.</a:t>
            </a:r>
          </a:p>
        </p:txBody>
      </p:sp>
      <p:cxnSp>
        <p:nvCxnSpPr>
          <p:cNvPr id="22" name="Connector 21"/>
          <p:cNvCxnSpPr/>
          <p:nvPr/>
        </p:nvCxnSpPr>
        <p:spPr>
          <a:xfrm>
            <a:off x="6080760" y="1755648"/>
            <a:ext cx="0" cy="256032"/>
          </a:xfrm>
          <a:prstGeom prst="line">
            <a:avLst/>
          </a:prstGeom>
          <a:ln w="22225">
            <a:solidFill>
              <a:srgbClr val="0F6E6B"/>
            </a:solidFill>
            <a:tailEnd type="triangle" w="med" len="med"/>
          </a:ln>
        </p:spPr>
      </p:cxnSp>
      <p:sp>
        <p:nvSpPr>
          <p:cNvPr id="23" name="Decision 22"/>
          <p:cNvSpPr/>
          <p:nvPr/>
        </p:nvSpPr>
        <p:spPr>
          <a:xfrm>
            <a:off x="4709160" y="2971800"/>
            <a:ext cx="2743200" cy="1051560"/>
          </a:xfrm>
          <a:prstGeom prst="flowChartDecision">
            <a:avLst/>
          </a:prstGeom>
          <a:solidFill>
            <a:srgbClr val="FFF4D4"/>
          </a:solidFill>
          <a:ln w="15875">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b="1" sz="1300">
                <a:solidFill>
                  <a:srgbClr val="B45309"/>
                </a:solidFill>
                <a:latin typeface="Calibri"/>
              </a:rPr>
              <a:t>Auto-order?</a:t>
            </a:r>
          </a:p>
        </p:txBody>
      </p:sp>
      <p:cxnSp>
        <p:nvCxnSpPr>
          <p:cNvPr id="24" name="Connector 23"/>
          <p:cNvCxnSpPr/>
          <p:nvPr/>
        </p:nvCxnSpPr>
        <p:spPr>
          <a:xfrm>
            <a:off x="6080760" y="2788920"/>
            <a:ext cx="0" cy="182880"/>
          </a:xfrm>
          <a:prstGeom prst="line">
            <a:avLst/>
          </a:prstGeom>
          <a:ln w="22225">
            <a:solidFill>
              <a:srgbClr val="0F6E6B"/>
            </a:solidFill>
            <a:tailEnd type="triangle" w="med" len="med"/>
          </a:ln>
        </p:spPr>
      </p:cxnSp>
      <p:sp>
        <p:nvSpPr>
          <p:cNvPr id="25" name="Process 24"/>
          <p:cNvSpPr/>
          <p:nvPr/>
        </p:nvSpPr>
        <p:spPr>
          <a:xfrm>
            <a:off x="320040" y="4297680"/>
            <a:ext cx="5669280" cy="868680"/>
          </a:xfrm>
          <a:prstGeom prst="flowChartProcess">
            <a:avLst/>
          </a:prstGeom>
          <a:solidFill>
            <a:srgbClr val="E5F6F4"/>
          </a:solidFill>
          <a:ln w="15875">
            <a:solidFill>
              <a:srgbClr val="0F6E6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b="1" sz="1300">
                <a:solidFill>
                  <a:srgbClr val="0F6E6B"/>
                </a:solidFill>
                <a:latin typeface="Calibri"/>
              </a:rPr>
              <a:t>Application</a:t>
            </a:r>
          </a:p>
          <a:p>
            <a:pPr algn="ctr">
              <a:spcBef>
                <a:spcPts val="200"/>
              </a:spcBef>
            </a:pPr>
            <a:r>
              <a:rPr sz="1300">
                <a:solidFill>
                  <a:srgbClr val="1C1917"/>
                </a:solidFill>
                <a:latin typeface="Calibri"/>
              </a:rPr>
              <a:t>Sort by filename keywords, and keep location files together: Loc 1, then Loc 2.</a:t>
            </a:r>
          </a:p>
        </p:txBody>
      </p:sp>
      <p:sp>
        <p:nvSpPr>
          <p:cNvPr id="26" name="Process 25"/>
          <p:cNvSpPr/>
          <p:nvPr/>
        </p:nvSpPr>
        <p:spPr>
          <a:xfrm>
            <a:off x="6217920" y="4297680"/>
            <a:ext cx="5623560" cy="868680"/>
          </a:xfrm>
          <a:prstGeom prst="flowChartProcess">
            <a:avLst/>
          </a:prstGeom>
          <a:solidFill>
            <a:srgbClr val="E7F0FB"/>
          </a:solidFill>
          <a:ln w="15875">
            <a:solidFill>
              <a:srgbClr val="1D4E89"/>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b="1" sz="1300">
                <a:solidFill>
                  <a:srgbClr val="1D4E89"/>
                </a:solidFill>
                <a:latin typeface="Calibri"/>
              </a:rPr>
              <a:t>You</a:t>
            </a:r>
          </a:p>
          <a:p>
            <a:pPr algn="ctr">
              <a:spcBef>
                <a:spcPts val="200"/>
              </a:spcBef>
            </a:pPr>
            <a:r>
              <a:rPr sz="1300">
                <a:solidFill>
                  <a:srgbClr val="1C1917"/>
                </a:solidFill>
                <a:latin typeface="Calibri"/>
              </a:rPr>
              <a:t>Keep the order you added the files in</a:t>
            </a:r>
          </a:p>
        </p:txBody>
      </p:sp>
      <p:sp>
        <p:nvSpPr>
          <p:cNvPr id="27" name="TextBox 26"/>
          <p:cNvSpPr txBox="1"/>
          <p:nvPr/>
        </p:nvSpPr>
        <p:spPr>
          <a:xfrm>
            <a:off x="1371600" y="4005072"/>
            <a:ext cx="548640" cy="256032"/>
          </a:xfrm>
          <a:prstGeom prst="rect">
            <a:avLst/>
          </a:prstGeom>
          <a:noFill/>
        </p:spPr>
        <p:txBody>
          <a:bodyPr wrap="square">
            <a:spAutoFit/>
          </a:bodyPr>
          <a:lstStyle/>
          <a:p>
            <a:pPr algn="l"/>
            <a:r>
              <a:rPr sz="1300" b="1">
                <a:solidFill>
                  <a:srgbClr val="145C38"/>
                </a:solidFill>
                <a:latin typeface="Calibri"/>
              </a:rPr>
              <a:t>Yes</a:t>
            </a:r>
          </a:p>
        </p:txBody>
      </p:sp>
      <p:sp>
        <p:nvSpPr>
          <p:cNvPr id="28" name="TextBox 27"/>
          <p:cNvSpPr txBox="1"/>
          <p:nvPr/>
        </p:nvSpPr>
        <p:spPr>
          <a:xfrm>
            <a:off x="10881360" y="4005072"/>
            <a:ext cx="457200" cy="256032"/>
          </a:xfrm>
          <a:prstGeom prst="rect">
            <a:avLst/>
          </a:prstGeom>
          <a:noFill/>
        </p:spPr>
        <p:txBody>
          <a:bodyPr wrap="square">
            <a:spAutoFit/>
          </a:bodyPr>
          <a:lstStyle/>
          <a:p>
            <a:pPr algn="l"/>
            <a:r>
              <a:rPr sz="1300" b="1">
                <a:solidFill>
                  <a:srgbClr val="9A3412"/>
                </a:solidFill>
                <a:latin typeface="Calibri"/>
              </a:rPr>
              <a:t>No</a:t>
            </a:r>
          </a:p>
        </p:txBody>
      </p:sp>
      <p:cxnSp>
        <p:nvCxnSpPr>
          <p:cNvPr id="29" name="Connector 28"/>
          <p:cNvCxnSpPr/>
          <p:nvPr/>
        </p:nvCxnSpPr>
        <p:spPr>
          <a:xfrm flipH="1">
            <a:off x="3108960" y="4023360"/>
            <a:ext cx="2103120" cy="274320"/>
          </a:xfrm>
          <a:prstGeom prst="line">
            <a:avLst/>
          </a:prstGeom>
          <a:ln w="22225">
            <a:solidFill>
              <a:srgbClr val="0F6E6B"/>
            </a:solidFill>
            <a:tailEnd type="triangle" w="med" len="med"/>
          </a:ln>
        </p:spPr>
      </p:cxnSp>
      <p:cxnSp>
        <p:nvCxnSpPr>
          <p:cNvPr id="30" name="Connector 29"/>
          <p:cNvCxnSpPr/>
          <p:nvPr/>
        </p:nvCxnSpPr>
        <p:spPr>
          <a:xfrm>
            <a:off x="6949440" y="4023360"/>
            <a:ext cx="2011680" cy="274320"/>
          </a:xfrm>
          <a:prstGeom prst="line">
            <a:avLst/>
          </a:prstGeom>
          <a:ln w="22225">
            <a:solidFill>
              <a:srgbClr val="0F6E6B"/>
            </a:solidFill>
            <a:tailEnd type="triangle" w="med" len="med"/>
          </a:ln>
        </p:spPr>
      </p:cxnSp>
      <p:sp>
        <p:nvSpPr>
          <p:cNvPr id="31" name="Process 30"/>
          <p:cNvSpPr/>
          <p:nvPr/>
        </p:nvSpPr>
        <p:spPr>
          <a:xfrm>
            <a:off x="1554480" y="5394960"/>
            <a:ext cx="9052560" cy="685800"/>
          </a:xfrm>
          <a:prstGeom prst="flowChartProcess">
            <a:avLst/>
          </a:prstGeom>
          <a:solidFill>
            <a:srgbClr val="E7F0FB"/>
          </a:solidFill>
          <a:ln w="15875">
            <a:solidFill>
              <a:srgbClr val="1D4E89"/>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b="1" sz="1300">
                <a:solidFill>
                  <a:srgbClr val="1D4E89"/>
                </a:solidFill>
                <a:latin typeface="Calibri"/>
              </a:rPr>
              <a:t>You</a:t>
            </a:r>
          </a:p>
          <a:p>
            <a:pPr algn="ctr">
              <a:spcBef>
                <a:spcPts val="200"/>
              </a:spcBef>
            </a:pPr>
            <a:r>
              <a:rPr sz="1300">
                <a:solidFill>
                  <a:srgbClr val="1C1917"/>
                </a:solidFill>
                <a:latin typeface="Calibri"/>
              </a:rPr>
              <a:t>Move a row up or down, or remove a file you do not want</a:t>
            </a:r>
          </a:p>
        </p:txBody>
      </p:sp>
      <p:cxnSp>
        <p:nvCxnSpPr>
          <p:cNvPr id="32" name="Connector 31"/>
          <p:cNvCxnSpPr/>
          <p:nvPr/>
        </p:nvCxnSpPr>
        <p:spPr>
          <a:xfrm>
            <a:off x="3154680" y="5166360"/>
            <a:ext cx="1783080" cy="228600"/>
          </a:xfrm>
          <a:prstGeom prst="line">
            <a:avLst/>
          </a:prstGeom>
          <a:ln w="22225">
            <a:solidFill>
              <a:srgbClr val="0F6E6B"/>
            </a:solidFill>
            <a:tailEnd type="triangle" w="med" len="med"/>
          </a:ln>
        </p:spPr>
      </p:cxnSp>
      <p:cxnSp>
        <p:nvCxnSpPr>
          <p:cNvPr id="33" name="Connector 32"/>
          <p:cNvCxnSpPr/>
          <p:nvPr/>
        </p:nvCxnSpPr>
        <p:spPr>
          <a:xfrm flipH="1">
            <a:off x="7223760" y="5166360"/>
            <a:ext cx="1783080" cy="228600"/>
          </a:xfrm>
          <a:prstGeom prst="line">
            <a:avLst/>
          </a:prstGeom>
          <a:ln w="22225">
            <a:solidFill>
              <a:srgbClr val="0F6E6B"/>
            </a:solidFill>
            <a:tailEnd type="triangle" w="med" len="med"/>
          </a:ln>
        </p:spPr>
      </p:cxnSp>
      <p:sp>
        <p:nvSpPr>
          <p:cNvPr id="34" name="TextBox 33"/>
          <p:cNvSpPr txBox="1"/>
          <p:nvPr/>
        </p:nvSpPr>
        <p:spPr>
          <a:xfrm>
            <a:off x="7863840" y="6309360"/>
            <a:ext cx="3931920" cy="292608"/>
          </a:xfrm>
          <a:prstGeom prst="rect">
            <a:avLst/>
          </a:prstGeom>
          <a:noFill/>
        </p:spPr>
        <p:txBody>
          <a:bodyPr wrap="square">
            <a:spAutoFit/>
          </a:bodyPr>
          <a:lstStyle/>
          <a:p>
            <a:pPr algn="l"/>
            <a:r>
              <a:rPr sz="1400" b="1">
                <a:solidFill>
                  <a:srgbClr val="1E3A5F"/>
                </a:solidFill>
                <a:latin typeface="Calibri"/>
              </a:rPr>
              <a:t>Continued on page 2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F6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46304"/>
            <a:ext cx="7772400" cy="329184"/>
          </a:xfrm>
          <a:prstGeom prst="rect">
            <a:avLst/>
          </a:prstGeom>
          <a:noFill/>
        </p:spPr>
        <p:txBody>
          <a:bodyPr wrap="square">
            <a:spAutoFit/>
          </a:bodyPr>
          <a:lstStyle/>
          <a:p>
            <a:pPr algn="l"/>
            <a:r>
              <a:rPr sz="2200" b="1">
                <a:solidFill>
                  <a:srgbClr val="1E3A5F"/>
                </a:solidFill>
                <a:latin typeface="Calibri"/>
              </a:rPr>
              <a:t>Choose the HCE rewrite, then Process</a:t>
            </a:r>
          </a:p>
        </p:txBody>
      </p:sp>
      <p:sp>
        <p:nvSpPr>
          <p:cNvPr id="5" name="TextBox 4"/>
          <p:cNvSpPr txBox="1"/>
          <p:nvPr/>
        </p:nvSpPr>
        <p:spPr>
          <a:xfrm>
            <a:off x="7680960" y="201168"/>
            <a:ext cx="4206240" cy="274320"/>
          </a:xfrm>
          <a:prstGeom prst="rect">
            <a:avLst/>
          </a:prstGeom>
          <a:noFill/>
        </p:spPr>
        <p:txBody>
          <a:bodyPr wrap="square">
            <a:spAutoFit/>
          </a:bodyPr>
          <a:lstStyle/>
          <a:p>
            <a:pPr algn="l"/>
            <a:r>
              <a:rPr sz="1200" b="0">
                <a:solidFill>
                  <a:srgbClr val="3F4A5A"/>
                </a:solidFill>
                <a:latin typeface="Calibri"/>
              </a:rPr>
              <a:t>Page 2 of 5   ·   Cover date and 402(g) dates change every Process</a:t>
            </a:r>
          </a:p>
        </p:txBody>
      </p:sp>
      <p:sp>
        <p:nvSpPr>
          <p:cNvPr id="6" name="Terminator 5"/>
          <p:cNvSpPr/>
          <p:nvPr/>
        </p:nvSpPr>
        <p:spPr>
          <a:xfrm>
            <a:off x="320040" y="621792"/>
            <a:ext cx="292608" cy="237744"/>
          </a:xfrm>
          <a:prstGeom prst="flowChartTerminator">
            <a:avLst/>
          </a:prstGeom>
          <a:solidFill>
            <a:srgbClr val="FFFFFF"/>
          </a:solidFill>
          <a:ln>
            <a:solidFill>
              <a:srgbClr val="1B7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 y="603504"/>
            <a:ext cx="1965960" cy="274320"/>
          </a:xfrm>
          <a:prstGeom prst="rect">
            <a:avLst/>
          </a:prstGeom>
          <a:noFill/>
        </p:spPr>
        <p:txBody>
          <a:bodyPr wrap="square">
            <a:spAutoFit/>
          </a:bodyPr>
          <a:lstStyle/>
          <a:p>
            <a:pPr algn="l"/>
            <a:r>
              <a:rPr sz="1100" b="0">
                <a:solidFill>
                  <a:srgbClr val="3F4A5A"/>
                </a:solidFill>
                <a:latin typeface="Calibri"/>
              </a:rPr>
              <a:t>Oval   Start or end</a:t>
            </a:r>
          </a:p>
        </p:txBody>
      </p:sp>
      <p:sp>
        <p:nvSpPr>
          <p:cNvPr id="8" name="Process 7"/>
          <p:cNvSpPr/>
          <p:nvPr/>
        </p:nvSpPr>
        <p:spPr>
          <a:xfrm>
            <a:off x="2651760" y="621792"/>
            <a:ext cx="292608" cy="237744"/>
          </a:xfrm>
          <a:prstGeom prst="flowChartProcess">
            <a:avLst/>
          </a:prstGeom>
          <a:solidFill>
            <a:srgbClr val="FFFFFF"/>
          </a:solidFill>
          <a:ln>
            <a:solidFill>
              <a:srgbClr val="1D4E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80944" y="603504"/>
            <a:ext cx="1965960" cy="274320"/>
          </a:xfrm>
          <a:prstGeom prst="rect">
            <a:avLst/>
          </a:prstGeom>
          <a:noFill/>
        </p:spPr>
        <p:txBody>
          <a:bodyPr wrap="square">
            <a:spAutoFit/>
          </a:bodyPr>
          <a:lstStyle/>
          <a:p>
            <a:pPr algn="l"/>
            <a:r>
              <a:rPr sz="1100" b="0">
                <a:solidFill>
                  <a:srgbClr val="3F4A5A"/>
                </a:solidFill>
                <a:latin typeface="Calibri"/>
              </a:rPr>
              <a:t>Rectangle   A step</a:t>
            </a:r>
          </a:p>
        </p:txBody>
      </p:sp>
      <p:sp>
        <p:nvSpPr>
          <p:cNvPr id="10" name="Decision 9"/>
          <p:cNvSpPr/>
          <p:nvPr/>
        </p:nvSpPr>
        <p:spPr>
          <a:xfrm>
            <a:off x="4983479" y="621792"/>
            <a:ext cx="292608" cy="237744"/>
          </a:xfrm>
          <a:prstGeom prst="flowChartDecision">
            <a:avLst/>
          </a:prstGeom>
          <a:solidFill>
            <a:srgbClr val="FFFFFF"/>
          </a:solidFill>
          <a:ln>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12664" y="603504"/>
            <a:ext cx="1965960" cy="274320"/>
          </a:xfrm>
          <a:prstGeom prst="rect">
            <a:avLst/>
          </a:prstGeom>
          <a:noFill/>
        </p:spPr>
        <p:txBody>
          <a:bodyPr wrap="square">
            <a:spAutoFit/>
          </a:bodyPr>
          <a:lstStyle/>
          <a:p>
            <a:pPr algn="l"/>
            <a:r>
              <a:rPr sz="1100" b="0">
                <a:solidFill>
                  <a:srgbClr val="3F4A5A"/>
                </a:solidFill>
                <a:latin typeface="Calibri"/>
              </a:rPr>
              <a:t>Diamond   Yes or no</a:t>
            </a:r>
          </a:p>
        </p:txBody>
      </p:sp>
      <p:sp>
        <p:nvSpPr>
          <p:cNvPr id="12" name="Data 11"/>
          <p:cNvSpPr/>
          <p:nvPr/>
        </p:nvSpPr>
        <p:spPr>
          <a:xfrm>
            <a:off x="7315199" y="621792"/>
            <a:ext cx="292608" cy="237744"/>
          </a:xfrm>
          <a:prstGeom prst="flowChartInputOutput">
            <a:avLst/>
          </a:prstGeom>
          <a:solidFill>
            <a:srgbClr val="FFFFFF"/>
          </a:solidFill>
          <a:ln>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44383" y="603504"/>
            <a:ext cx="1965960" cy="274320"/>
          </a:xfrm>
          <a:prstGeom prst="rect">
            <a:avLst/>
          </a:prstGeom>
          <a:noFill/>
        </p:spPr>
        <p:txBody>
          <a:bodyPr wrap="square">
            <a:spAutoFit/>
          </a:bodyPr>
          <a:lstStyle/>
          <a:p>
            <a:pPr algn="l"/>
            <a:r>
              <a:rPr sz="1100" b="0">
                <a:solidFill>
                  <a:srgbClr val="3F4A5A"/>
                </a:solidFill>
                <a:latin typeface="Calibri"/>
              </a:rPr>
              <a:t>Slanted   Files you add</a:t>
            </a:r>
          </a:p>
        </p:txBody>
      </p:sp>
      <p:sp>
        <p:nvSpPr>
          <p:cNvPr id="14" name="Document 13"/>
          <p:cNvSpPr/>
          <p:nvPr/>
        </p:nvSpPr>
        <p:spPr>
          <a:xfrm>
            <a:off x="9646919" y="621792"/>
            <a:ext cx="292608" cy="237744"/>
          </a:xfrm>
          <a:prstGeom prst="flowChartDocument">
            <a:avLst/>
          </a:prstGeom>
          <a:solidFill>
            <a:srgbClr val="FFFFFF"/>
          </a:solidFill>
          <a:ln>
            <a:solidFill>
              <a:srgbClr val="0F6E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76103" y="603504"/>
            <a:ext cx="1965960" cy="274320"/>
          </a:xfrm>
          <a:prstGeom prst="rect">
            <a:avLst/>
          </a:prstGeom>
          <a:noFill/>
        </p:spPr>
        <p:txBody>
          <a:bodyPr wrap="square">
            <a:spAutoFit/>
          </a:bodyPr>
          <a:lstStyle/>
          <a:p>
            <a:pPr algn="l"/>
            <a:r>
              <a:rPr sz="1100" b="0">
                <a:solidFill>
                  <a:srgbClr val="3F4A5A"/>
                </a:solidFill>
                <a:latin typeface="Calibri"/>
              </a:rPr>
              <a:t>Document   File produced</a:t>
            </a:r>
          </a:p>
        </p:txBody>
      </p:sp>
      <p:sp>
        <p:nvSpPr>
          <p:cNvPr id="16" name="Decision 15"/>
          <p:cNvSpPr/>
          <p:nvPr/>
        </p:nvSpPr>
        <p:spPr>
          <a:xfrm>
            <a:off x="4709160" y="1024128"/>
            <a:ext cx="2743200" cy="1005840"/>
          </a:xfrm>
          <a:prstGeom prst="flowChartDecision">
            <a:avLst/>
          </a:prstGeom>
          <a:solidFill>
            <a:srgbClr val="FFF4D4"/>
          </a:solidFill>
          <a:ln w="15875">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b="1" sz="1300">
                <a:solidFill>
                  <a:srgbClr val="B45309"/>
                </a:solidFill>
                <a:latin typeface="Calibri"/>
              </a:rPr>
              <a:t>HCE % on?</a:t>
            </a:r>
          </a:p>
        </p:txBody>
      </p:sp>
      <p:sp>
        <p:nvSpPr>
          <p:cNvPr id="17" name="Process 16"/>
          <p:cNvSpPr/>
          <p:nvPr/>
        </p:nvSpPr>
        <p:spPr>
          <a:xfrm>
            <a:off x="320040" y="2240280"/>
            <a:ext cx="5669280" cy="960120"/>
          </a:xfrm>
          <a:prstGeom prst="flowChartProcess">
            <a:avLst/>
          </a:prstGeom>
          <a:solidFill>
            <a:srgbClr val="E5F6F4"/>
          </a:solidFill>
          <a:ln w="15875">
            <a:solidFill>
              <a:srgbClr val="0F6E6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b="1" sz="1300">
                <a:solidFill>
                  <a:srgbClr val="0F6E6B"/>
                </a:solidFill>
                <a:latin typeface="Calibri"/>
              </a:rPr>
              <a:t>Application</a:t>
            </a:r>
          </a:p>
          <a:p>
            <a:pPr algn="ctr">
              <a:spcBef>
                <a:spcPts val="200"/>
              </a:spcBef>
            </a:pPr>
            <a:r>
              <a:rPr sz="1200">
                <a:solidFill>
                  <a:srgbClr val="1C1917"/>
                </a:solidFill>
                <a:latin typeface="Calibri"/>
              </a:rPr>
              <a:t>Rewrite the prior-year HCE %. Cover date and off-calendar 402(g) dates are set too.</a:t>
            </a:r>
          </a:p>
        </p:txBody>
      </p:sp>
      <p:sp>
        <p:nvSpPr>
          <p:cNvPr id="18" name="Process 17"/>
          <p:cNvSpPr/>
          <p:nvPr/>
        </p:nvSpPr>
        <p:spPr>
          <a:xfrm>
            <a:off x="6217920" y="2240280"/>
            <a:ext cx="5623560" cy="960120"/>
          </a:xfrm>
          <a:prstGeom prst="flowChartProcess">
            <a:avLst/>
          </a:prstGeom>
          <a:solidFill>
            <a:srgbClr val="E5F6F4"/>
          </a:solidFill>
          <a:ln w="15875">
            <a:solidFill>
              <a:srgbClr val="0F6E6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b="1" sz="1300">
                <a:solidFill>
                  <a:srgbClr val="0F6E6B"/>
                </a:solidFill>
                <a:latin typeface="Calibri"/>
              </a:rPr>
              <a:t>Application</a:t>
            </a:r>
          </a:p>
          <a:p>
            <a:pPr algn="ctr">
              <a:spcBef>
                <a:spcPts val="200"/>
              </a:spcBef>
            </a:pPr>
            <a:r>
              <a:rPr sz="1200">
                <a:solidFill>
                  <a:srgbClr val="1C1917"/>
                </a:solidFill>
                <a:latin typeface="Calibri"/>
              </a:rPr>
              <a:t>Leave the HCE % as printed. This is the default. Cover date and off-calendar 402(g) dates are still set.</a:t>
            </a:r>
          </a:p>
        </p:txBody>
      </p:sp>
      <p:sp>
        <p:nvSpPr>
          <p:cNvPr id="19" name="TextBox 18"/>
          <p:cNvSpPr txBox="1"/>
          <p:nvPr/>
        </p:nvSpPr>
        <p:spPr>
          <a:xfrm>
            <a:off x="1417320" y="1965960"/>
            <a:ext cx="548640" cy="237744"/>
          </a:xfrm>
          <a:prstGeom prst="rect">
            <a:avLst/>
          </a:prstGeom>
          <a:noFill/>
        </p:spPr>
        <p:txBody>
          <a:bodyPr wrap="square">
            <a:spAutoFit/>
          </a:bodyPr>
          <a:lstStyle/>
          <a:p>
            <a:pPr algn="l"/>
            <a:r>
              <a:rPr sz="1300" b="1">
                <a:solidFill>
                  <a:srgbClr val="145C38"/>
                </a:solidFill>
                <a:latin typeface="Calibri"/>
              </a:rPr>
              <a:t>Yes</a:t>
            </a:r>
          </a:p>
        </p:txBody>
      </p:sp>
      <p:sp>
        <p:nvSpPr>
          <p:cNvPr id="20" name="TextBox 19"/>
          <p:cNvSpPr txBox="1"/>
          <p:nvPr/>
        </p:nvSpPr>
        <p:spPr>
          <a:xfrm>
            <a:off x="10835640" y="1965960"/>
            <a:ext cx="457200" cy="237744"/>
          </a:xfrm>
          <a:prstGeom prst="rect">
            <a:avLst/>
          </a:prstGeom>
          <a:noFill/>
        </p:spPr>
        <p:txBody>
          <a:bodyPr wrap="square">
            <a:spAutoFit/>
          </a:bodyPr>
          <a:lstStyle/>
          <a:p>
            <a:pPr algn="l"/>
            <a:r>
              <a:rPr sz="1300" b="1">
                <a:solidFill>
                  <a:srgbClr val="9A3412"/>
                </a:solidFill>
                <a:latin typeface="Calibri"/>
              </a:rPr>
              <a:t>No</a:t>
            </a:r>
          </a:p>
        </p:txBody>
      </p:sp>
      <p:cxnSp>
        <p:nvCxnSpPr>
          <p:cNvPr id="21" name="Connector 20"/>
          <p:cNvCxnSpPr/>
          <p:nvPr/>
        </p:nvCxnSpPr>
        <p:spPr>
          <a:xfrm flipH="1">
            <a:off x="3108960" y="2029968"/>
            <a:ext cx="2103120" cy="210312"/>
          </a:xfrm>
          <a:prstGeom prst="line">
            <a:avLst/>
          </a:prstGeom>
          <a:ln w="22225">
            <a:solidFill>
              <a:srgbClr val="0F6E6B"/>
            </a:solidFill>
            <a:tailEnd type="triangle" w="med" len="med"/>
          </a:ln>
        </p:spPr>
      </p:cxnSp>
      <p:cxnSp>
        <p:nvCxnSpPr>
          <p:cNvPr id="22" name="Connector 21"/>
          <p:cNvCxnSpPr/>
          <p:nvPr/>
        </p:nvCxnSpPr>
        <p:spPr>
          <a:xfrm>
            <a:off x="6949440" y="2029968"/>
            <a:ext cx="2011680" cy="210312"/>
          </a:xfrm>
          <a:prstGeom prst="line">
            <a:avLst/>
          </a:prstGeom>
          <a:ln w="22225">
            <a:solidFill>
              <a:srgbClr val="0F6E6B"/>
            </a:solidFill>
            <a:tailEnd type="triangle" w="med" len="med"/>
          </a:ln>
        </p:spPr>
      </p:cxnSp>
      <p:sp>
        <p:nvSpPr>
          <p:cNvPr id="23" name="Process 22"/>
          <p:cNvSpPr/>
          <p:nvPr/>
        </p:nvSpPr>
        <p:spPr>
          <a:xfrm>
            <a:off x="3200400" y="3383280"/>
            <a:ext cx="5760720" cy="566928"/>
          </a:xfrm>
          <a:prstGeom prst="flowChartProcess">
            <a:avLst/>
          </a:prstGeom>
          <a:solidFill>
            <a:srgbClr val="E7F0FB"/>
          </a:solidFill>
          <a:ln w="15875">
            <a:solidFill>
              <a:srgbClr val="1D4E89"/>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b="1" sz="1300">
                <a:solidFill>
                  <a:srgbClr val="1D4E89"/>
                </a:solidFill>
                <a:latin typeface="Calibri"/>
              </a:rPr>
              <a:t>You</a:t>
            </a:r>
          </a:p>
          <a:p>
            <a:pPr algn="ctr">
              <a:spcBef>
                <a:spcPts val="200"/>
              </a:spcBef>
            </a:pPr>
            <a:r>
              <a:rPr sz="1400">
                <a:solidFill>
                  <a:srgbClr val="1C1917"/>
                </a:solidFill>
                <a:latin typeface="Calibri"/>
              </a:rPr>
              <a:t>Click Process package</a:t>
            </a:r>
          </a:p>
        </p:txBody>
      </p:sp>
      <p:cxnSp>
        <p:nvCxnSpPr>
          <p:cNvPr id="24" name="Connector 23"/>
          <p:cNvCxnSpPr/>
          <p:nvPr/>
        </p:nvCxnSpPr>
        <p:spPr>
          <a:xfrm>
            <a:off x="3154680" y="3200400"/>
            <a:ext cx="1874520" cy="182880"/>
          </a:xfrm>
          <a:prstGeom prst="line">
            <a:avLst/>
          </a:prstGeom>
          <a:ln w="22225">
            <a:solidFill>
              <a:srgbClr val="0F6E6B"/>
            </a:solidFill>
            <a:tailEnd type="triangle" w="med" len="med"/>
          </a:ln>
        </p:spPr>
      </p:cxnSp>
      <p:cxnSp>
        <p:nvCxnSpPr>
          <p:cNvPr id="25" name="Connector 24"/>
          <p:cNvCxnSpPr/>
          <p:nvPr/>
        </p:nvCxnSpPr>
        <p:spPr>
          <a:xfrm flipH="1">
            <a:off x="7132320" y="3200400"/>
            <a:ext cx="1874520" cy="182880"/>
          </a:xfrm>
          <a:prstGeom prst="line">
            <a:avLst/>
          </a:prstGeom>
          <a:ln w="22225">
            <a:solidFill>
              <a:srgbClr val="0F6E6B"/>
            </a:solidFill>
            <a:tailEnd type="triangle" w="med" len="med"/>
          </a:ln>
        </p:spPr>
      </p:cxnSp>
      <p:sp>
        <p:nvSpPr>
          <p:cNvPr id="26" name="Process 25"/>
          <p:cNvSpPr/>
          <p:nvPr/>
        </p:nvSpPr>
        <p:spPr>
          <a:xfrm>
            <a:off x="1554480" y="4114800"/>
            <a:ext cx="9052560" cy="530352"/>
          </a:xfrm>
          <a:prstGeom prst="flowChartProcess">
            <a:avLst/>
          </a:prstGeom>
          <a:solidFill>
            <a:srgbClr val="E5F6F4"/>
          </a:solidFill>
          <a:ln w="15875">
            <a:solidFill>
              <a:srgbClr val="0F6E6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b="1" sz="1300">
                <a:solidFill>
                  <a:srgbClr val="0F6E6B"/>
                </a:solidFill>
                <a:latin typeface="Calibri"/>
              </a:rPr>
              <a:t>Application</a:t>
            </a:r>
          </a:p>
          <a:p>
            <a:pPr algn="ctr">
              <a:spcBef>
                <a:spcPts val="200"/>
              </a:spcBef>
            </a:pPr>
            <a:r>
              <a:rPr sz="1300">
                <a:solidFill>
                  <a:srgbClr val="1C1917"/>
                </a:solidFill>
                <a:latin typeface="Calibri"/>
              </a:rPr>
              <a:t>Merge the selected pages into one PDF</a:t>
            </a:r>
          </a:p>
        </p:txBody>
      </p:sp>
      <p:cxnSp>
        <p:nvCxnSpPr>
          <p:cNvPr id="27" name="Connector 26"/>
          <p:cNvCxnSpPr/>
          <p:nvPr/>
        </p:nvCxnSpPr>
        <p:spPr>
          <a:xfrm>
            <a:off x="6080760" y="3950208"/>
            <a:ext cx="0" cy="164592"/>
          </a:xfrm>
          <a:prstGeom prst="line">
            <a:avLst/>
          </a:prstGeom>
          <a:ln w="22225">
            <a:solidFill>
              <a:srgbClr val="0F6E6B"/>
            </a:solidFill>
            <a:tailEnd type="triangle" w="med" len="med"/>
          </a:ln>
        </p:spPr>
      </p:cxnSp>
      <p:sp>
        <p:nvSpPr>
          <p:cNvPr id="28" name="Process 27"/>
          <p:cNvSpPr/>
          <p:nvPr/>
        </p:nvSpPr>
        <p:spPr>
          <a:xfrm>
            <a:off x="1554480" y="4773168"/>
            <a:ext cx="9052560" cy="658368"/>
          </a:xfrm>
          <a:prstGeom prst="flowChartProcess">
            <a:avLst/>
          </a:prstGeom>
          <a:solidFill>
            <a:srgbClr val="E5F6F4"/>
          </a:solidFill>
          <a:ln w="15875">
            <a:solidFill>
              <a:srgbClr val="0F6E6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b="1" sz="1300">
                <a:solidFill>
                  <a:srgbClr val="0F6E6B"/>
                </a:solidFill>
                <a:latin typeface="Calibri"/>
              </a:rPr>
              <a:t>Application</a:t>
            </a:r>
          </a:p>
          <a:p>
            <a:pPr algn="ctr">
              <a:spcBef>
                <a:spcPts val="200"/>
              </a:spcBef>
            </a:pPr>
            <a:r>
              <a:rPr sz="1200">
                <a:solidFill>
                  <a:srgbClr val="1C1917"/>
                </a:solidFill>
                <a:latin typeface="Calibri"/>
              </a:rPr>
              <a:t>Reorder inner pages when the headings match: ADP/ACP, 410(b), and a component benefit test.</a:t>
            </a:r>
          </a:p>
        </p:txBody>
      </p:sp>
      <p:cxnSp>
        <p:nvCxnSpPr>
          <p:cNvPr id="29" name="Connector 28"/>
          <p:cNvCxnSpPr/>
          <p:nvPr/>
        </p:nvCxnSpPr>
        <p:spPr>
          <a:xfrm>
            <a:off x="6080760" y="4645152"/>
            <a:ext cx="0" cy="128016"/>
          </a:xfrm>
          <a:prstGeom prst="line">
            <a:avLst/>
          </a:prstGeom>
          <a:ln w="22225">
            <a:solidFill>
              <a:srgbClr val="0F6E6B"/>
            </a:solidFill>
            <a:tailEnd type="triangle" w="med" len="med"/>
          </a:ln>
        </p:spPr>
      </p:cxnSp>
      <p:sp>
        <p:nvSpPr>
          <p:cNvPr id="30" name="Process 29"/>
          <p:cNvSpPr/>
          <p:nvPr/>
        </p:nvSpPr>
        <p:spPr>
          <a:xfrm>
            <a:off x="1554480" y="5559552"/>
            <a:ext cx="9052560" cy="713232"/>
          </a:xfrm>
          <a:prstGeom prst="flowChartProcess">
            <a:avLst/>
          </a:prstGeom>
          <a:solidFill>
            <a:srgbClr val="E5F6F4"/>
          </a:solidFill>
          <a:ln w="15875">
            <a:solidFill>
              <a:srgbClr val="0F6E6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b="1" sz="1300">
                <a:solidFill>
                  <a:srgbClr val="0F6E6B"/>
                </a:solidFill>
                <a:latin typeface="Calibri"/>
              </a:rPr>
              <a:t>Application</a:t>
            </a:r>
          </a:p>
          <a:p>
            <a:pPr algn="ctr">
              <a:spcBef>
                <a:spcPts val="200"/>
              </a:spcBef>
            </a:pPr>
            <a:r>
              <a:rPr sz="1200">
                <a:solidFill>
                  <a:srgbClr val="1C1917"/>
                </a:solidFill>
                <a:latin typeface="Calibri"/>
              </a:rPr>
              <a:t>Read plan number, names, year, PRIOR or CURRENT, HCE, allocation, pass or fail, and amounts.</a:t>
            </a:r>
          </a:p>
        </p:txBody>
      </p:sp>
      <p:cxnSp>
        <p:nvCxnSpPr>
          <p:cNvPr id="31" name="Connector 30"/>
          <p:cNvCxnSpPr/>
          <p:nvPr/>
        </p:nvCxnSpPr>
        <p:spPr>
          <a:xfrm>
            <a:off x="6080760" y="5431536"/>
            <a:ext cx="0" cy="128016"/>
          </a:xfrm>
          <a:prstGeom prst="line">
            <a:avLst/>
          </a:prstGeom>
          <a:ln w="22225">
            <a:solidFill>
              <a:srgbClr val="0F6E6B"/>
            </a:solidFill>
            <a:tailEnd type="triangle" w="med" len="med"/>
          </a:ln>
        </p:spPr>
      </p:cxnSp>
      <p:sp>
        <p:nvSpPr>
          <p:cNvPr id="32" name="TextBox 31"/>
          <p:cNvSpPr txBox="1"/>
          <p:nvPr/>
        </p:nvSpPr>
        <p:spPr>
          <a:xfrm>
            <a:off x="6675120" y="6446520"/>
            <a:ext cx="5120640" cy="274320"/>
          </a:xfrm>
          <a:prstGeom prst="rect">
            <a:avLst/>
          </a:prstGeom>
          <a:noFill/>
        </p:spPr>
        <p:txBody>
          <a:bodyPr wrap="square">
            <a:spAutoFit/>
          </a:bodyPr>
          <a:lstStyle/>
          <a:p>
            <a:pPr algn="l"/>
            <a:r>
              <a:rPr sz="1300" b="1">
                <a:solidFill>
                  <a:srgbClr val="1E3A5F"/>
                </a:solidFill>
                <a:latin typeface="Calibri"/>
              </a:rPr>
              <a:t>Next page — keep, remove, and fill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F6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46304"/>
            <a:ext cx="7772400" cy="329184"/>
          </a:xfrm>
          <a:prstGeom prst="rect">
            <a:avLst/>
          </a:prstGeom>
          <a:noFill/>
        </p:spPr>
        <p:txBody>
          <a:bodyPr wrap="square">
            <a:spAutoFit/>
          </a:bodyPr>
          <a:lstStyle/>
          <a:p>
            <a:pPr algn="l"/>
            <a:r>
              <a:rPr sz="2200" b="1">
                <a:solidFill>
                  <a:srgbClr val="1E3A5F"/>
                </a:solidFill>
                <a:latin typeface="Calibri"/>
              </a:rPr>
              <a:t>Keep, remove, and fill</a:t>
            </a:r>
          </a:p>
        </p:txBody>
      </p:sp>
      <p:sp>
        <p:nvSpPr>
          <p:cNvPr id="5" name="TextBox 4"/>
          <p:cNvSpPr txBox="1"/>
          <p:nvPr/>
        </p:nvSpPr>
        <p:spPr>
          <a:xfrm>
            <a:off x="7680960" y="201168"/>
            <a:ext cx="4206240" cy="274320"/>
          </a:xfrm>
          <a:prstGeom prst="rect">
            <a:avLst/>
          </a:prstGeom>
          <a:noFill/>
        </p:spPr>
        <p:txBody>
          <a:bodyPr wrap="square">
            <a:spAutoFit/>
          </a:bodyPr>
          <a:lstStyle/>
          <a:p>
            <a:pPr algn="l"/>
            <a:r>
              <a:rPr sz="1200" b="0">
                <a:solidFill>
                  <a:srgbClr val="3F4A5A"/>
                </a:solidFill>
                <a:latin typeface="Calibri"/>
              </a:rPr>
              <a:t>Page 3 of 5   ·   These use the plan facts from page 2</a:t>
            </a:r>
          </a:p>
        </p:txBody>
      </p:sp>
      <p:sp>
        <p:nvSpPr>
          <p:cNvPr id="6" name="Terminator 5"/>
          <p:cNvSpPr/>
          <p:nvPr/>
        </p:nvSpPr>
        <p:spPr>
          <a:xfrm>
            <a:off x="320040" y="621792"/>
            <a:ext cx="292608" cy="237744"/>
          </a:xfrm>
          <a:prstGeom prst="flowChartTerminator">
            <a:avLst/>
          </a:prstGeom>
          <a:solidFill>
            <a:srgbClr val="FFFFFF"/>
          </a:solidFill>
          <a:ln>
            <a:solidFill>
              <a:srgbClr val="1B7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 y="603504"/>
            <a:ext cx="1965960" cy="274320"/>
          </a:xfrm>
          <a:prstGeom prst="rect">
            <a:avLst/>
          </a:prstGeom>
          <a:noFill/>
        </p:spPr>
        <p:txBody>
          <a:bodyPr wrap="square">
            <a:spAutoFit/>
          </a:bodyPr>
          <a:lstStyle/>
          <a:p>
            <a:pPr algn="l"/>
            <a:r>
              <a:rPr sz="1100" b="0">
                <a:solidFill>
                  <a:srgbClr val="3F4A5A"/>
                </a:solidFill>
                <a:latin typeface="Calibri"/>
              </a:rPr>
              <a:t>Oval   Start or end</a:t>
            </a:r>
          </a:p>
        </p:txBody>
      </p:sp>
      <p:sp>
        <p:nvSpPr>
          <p:cNvPr id="8" name="Process 7"/>
          <p:cNvSpPr/>
          <p:nvPr/>
        </p:nvSpPr>
        <p:spPr>
          <a:xfrm>
            <a:off x="2651760" y="621792"/>
            <a:ext cx="292608" cy="237744"/>
          </a:xfrm>
          <a:prstGeom prst="flowChartProcess">
            <a:avLst/>
          </a:prstGeom>
          <a:solidFill>
            <a:srgbClr val="FFFFFF"/>
          </a:solidFill>
          <a:ln>
            <a:solidFill>
              <a:srgbClr val="1D4E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80944" y="603504"/>
            <a:ext cx="1965960" cy="274320"/>
          </a:xfrm>
          <a:prstGeom prst="rect">
            <a:avLst/>
          </a:prstGeom>
          <a:noFill/>
        </p:spPr>
        <p:txBody>
          <a:bodyPr wrap="square">
            <a:spAutoFit/>
          </a:bodyPr>
          <a:lstStyle/>
          <a:p>
            <a:pPr algn="l"/>
            <a:r>
              <a:rPr sz="1100" b="0">
                <a:solidFill>
                  <a:srgbClr val="3F4A5A"/>
                </a:solidFill>
                <a:latin typeface="Calibri"/>
              </a:rPr>
              <a:t>Rectangle   A step</a:t>
            </a:r>
          </a:p>
        </p:txBody>
      </p:sp>
      <p:sp>
        <p:nvSpPr>
          <p:cNvPr id="10" name="Decision 9"/>
          <p:cNvSpPr/>
          <p:nvPr/>
        </p:nvSpPr>
        <p:spPr>
          <a:xfrm>
            <a:off x="4983479" y="621792"/>
            <a:ext cx="292608" cy="237744"/>
          </a:xfrm>
          <a:prstGeom prst="flowChartDecision">
            <a:avLst/>
          </a:prstGeom>
          <a:solidFill>
            <a:srgbClr val="FFFFFF"/>
          </a:solidFill>
          <a:ln>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12664" y="603504"/>
            <a:ext cx="1965960" cy="274320"/>
          </a:xfrm>
          <a:prstGeom prst="rect">
            <a:avLst/>
          </a:prstGeom>
          <a:noFill/>
        </p:spPr>
        <p:txBody>
          <a:bodyPr wrap="square">
            <a:spAutoFit/>
          </a:bodyPr>
          <a:lstStyle/>
          <a:p>
            <a:pPr algn="l"/>
            <a:r>
              <a:rPr sz="1100" b="0">
                <a:solidFill>
                  <a:srgbClr val="3F4A5A"/>
                </a:solidFill>
                <a:latin typeface="Calibri"/>
              </a:rPr>
              <a:t>Diamond   Yes or no</a:t>
            </a:r>
          </a:p>
        </p:txBody>
      </p:sp>
      <p:sp>
        <p:nvSpPr>
          <p:cNvPr id="12" name="Data 11"/>
          <p:cNvSpPr/>
          <p:nvPr/>
        </p:nvSpPr>
        <p:spPr>
          <a:xfrm>
            <a:off x="7315199" y="621792"/>
            <a:ext cx="292608" cy="237744"/>
          </a:xfrm>
          <a:prstGeom prst="flowChartInputOutput">
            <a:avLst/>
          </a:prstGeom>
          <a:solidFill>
            <a:srgbClr val="FFFFFF"/>
          </a:solidFill>
          <a:ln>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44383" y="603504"/>
            <a:ext cx="1965960" cy="274320"/>
          </a:xfrm>
          <a:prstGeom prst="rect">
            <a:avLst/>
          </a:prstGeom>
          <a:noFill/>
        </p:spPr>
        <p:txBody>
          <a:bodyPr wrap="square">
            <a:spAutoFit/>
          </a:bodyPr>
          <a:lstStyle/>
          <a:p>
            <a:pPr algn="l"/>
            <a:r>
              <a:rPr sz="1100" b="0">
                <a:solidFill>
                  <a:srgbClr val="3F4A5A"/>
                </a:solidFill>
                <a:latin typeface="Calibri"/>
              </a:rPr>
              <a:t>Slanted   Files you add</a:t>
            </a:r>
          </a:p>
        </p:txBody>
      </p:sp>
      <p:sp>
        <p:nvSpPr>
          <p:cNvPr id="14" name="Document 13"/>
          <p:cNvSpPr/>
          <p:nvPr/>
        </p:nvSpPr>
        <p:spPr>
          <a:xfrm>
            <a:off x="9646919" y="621792"/>
            <a:ext cx="292608" cy="237744"/>
          </a:xfrm>
          <a:prstGeom prst="flowChartDocument">
            <a:avLst/>
          </a:prstGeom>
          <a:solidFill>
            <a:srgbClr val="FFFFFF"/>
          </a:solidFill>
          <a:ln>
            <a:solidFill>
              <a:srgbClr val="0F6E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76103" y="603504"/>
            <a:ext cx="1965960" cy="274320"/>
          </a:xfrm>
          <a:prstGeom prst="rect">
            <a:avLst/>
          </a:prstGeom>
          <a:noFill/>
        </p:spPr>
        <p:txBody>
          <a:bodyPr wrap="square">
            <a:spAutoFit/>
          </a:bodyPr>
          <a:lstStyle/>
          <a:p>
            <a:pPr algn="l"/>
            <a:r>
              <a:rPr sz="1100" b="0">
                <a:solidFill>
                  <a:srgbClr val="3F4A5A"/>
                </a:solidFill>
                <a:latin typeface="Calibri"/>
              </a:rPr>
              <a:t>Document   File produced</a:t>
            </a:r>
          </a:p>
        </p:txBody>
      </p:sp>
      <p:sp>
        <p:nvSpPr>
          <p:cNvPr id="16" name="Process 15"/>
          <p:cNvSpPr/>
          <p:nvPr/>
        </p:nvSpPr>
        <p:spPr>
          <a:xfrm>
            <a:off x="320040" y="1051560"/>
            <a:ext cx="5669280" cy="1115568"/>
          </a:xfrm>
          <a:prstGeom prst="flowChartProcess">
            <a:avLst/>
          </a:prstGeom>
          <a:solidFill>
            <a:srgbClr val="E5F6F4"/>
          </a:solidFill>
          <a:ln w="15875">
            <a:solidFill>
              <a:srgbClr val="0F6E6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b="1" sz="1300">
                <a:solidFill>
                  <a:srgbClr val="0F6E6B"/>
                </a:solidFill>
                <a:latin typeface="Calibri"/>
              </a:rPr>
              <a:t>Cover letter</a:t>
            </a:r>
          </a:p>
          <a:p>
            <a:pPr algn="ctr">
              <a:spcBef>
                <a:spcPts val="200"/>
              </a:spcBef>
            </a:pPr>
            <a:r>
              <a:rPr sz="1100">
                <a:solidFill>
                  <a:srgbClr val="1C1917"/>
                </a:solidFill>
                <a:latin typeface="Calibri"/>
              </a:rPr>
              <a:t>Read company, address, plan name, and plan year end. Check the Mutual of America stamp.</a:t>
            </a:r>
          </a:p>
        </p:txBody>
      </p:sp>
      <p:sp>
        <p:nvSpPr>
          <p:cNvPr id="17" name="Process 16"/>
          <p:cNvSpPr/>
          <p:nvPr/>
        </p:nvSpPr>
        <p:spPr>
          <a:xfrm>
            <a:off x="6263640" y="1051560"/>
            <a:ext cx="5669280" cy="1115568"/>
          </a:xfrm>
          <a:prstGeom prst="flowChartProcess">
            <a:avLst/>
          </a:prstGeom>
          <a:solidFill>
            <a:srgbClr val="E5F6F4"/>
          </a:solidFill>
          <a:ln w="15875">
            <a:solidFill>
              <a:srgbClr val="0F6E6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b="1" sz="1300">
                <a:solidFill>
                  <a:srgbClr val="0F6E6B"/>
                </a:solidFill>
                <a:latin typeface="Calibri"/>
              </a:rPr>
              <a:t>Action Required</a:t>
            </a:r>
          </a:p>
          <a:p>
            <a:pPr algn="ctr">
              <a:spcBef>
                <a:spcPts val="200"/>
              </a:spcBef>
            </a:pPr>
            <a:r>
              <a:rPr sz="1100">
                <a:solidFill>
                  <a:srgbClr val="1C1917"/>
                </a:solidFill>
                <a:latin typeface="Calibri"/>
              </a:rPr>
              <a:t>Keep or remove each paragraph: compliance failure, PRIOR or CURRENT, after 12 months, top heavy above 60%, variance, and no action.</a:t>
            </a:r>
          </a:p>
        </p:txBody>
      </p:sp>
      <p:sp>
        <p:nvSpPr>
          <p:cNvPr id="18" name="Process 17"/>
          <p:cNvSpPr/>
          <p:nvPr/>
        </p:nvSpPr>
        <p:spPr>
          <a:xfrm>
            <a:off x="320040" y="2286000"/>
            <a:ext cx="5669280" cy="1115568"/>
          </a:xfrm>
          <a:prstGeom prst="flowChartProcess">
            <a:avLst/>
          </a:prstGeom>
          <a:solidFill>
            <a:srgbClr val="E5F6F4"/>
          </a:solidFill>
          <a:ln w="15875">
            <a:solidFill>
              <a:srgbClr val="0F6E6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b="1" sz="1300">
                <a:solidFill>
                  <a:srgbClr val="0F6E6B"/>
                </a:solidFill>
                <a:latin typeface="Calibri"/>
              </a:rPr>
              <a:t>ADP and ACP</a:t>
            </a:r>
          </a:p>
          <a:p>
            <a:pPr algn="ctr">
              <a:spcBef>
                <a:spcPts val="200"/>
              </a:spcBef>
            </a:pPr>
            <a:r>
              <a:rPr sz="1100">
                <a:solidFill>
                  <a:srgbClr val="1C1917"/>
                </a:solidFill>
                <a:latin typeface="Calibri"/>
              </a:rPr>
              <a:t>Keep the notice and each letter only if that test failed and returns are required. Fill the QNEC. Drop the unused line. After 12 months, CURRENT keeps QNEC plus refunds. PRIOR keeps refunds only.</a:t>
            </a:r>
          </a:p>
        </p:txBody>
      </p:sp>
      <p:sp>
        <p:nvSpPr>
          <p:cNvPr id="19" name="Process 18"/>
          <p:cNvSpPr/>
          <p:nvPr/>
        </p:nvSpPr>
        <p:spPr>
          <a:xfrm>
            <a:off x="6263640" y="2286000"/>
            <a:ext cx="5669280" cy="1115568"/>
          </a:xfrm>
          <a:prstGeom prst="flowChartProcess">
            <a:avLst/>
          </a:prstGeom>
          <a:solidFill>
            <a:srgbClr val="E5F6F4"/>
          </a:solidFill>
          <a:ln w="15875">
            <a:solidFill>
              <a:srgbClr val="0F6E6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b="1" sz="1300">
                <a:solidFill>
                  <a:srgbClr val="0F6E6B"/>
                </a:solidFill>
                <a:latin typeface="Calibri"/>
              </a:rPr>
              <a:t>402(g)</a:t>
            </a:r>
          </a:p>
          <a:p>
            <a:pPr algn="ctr">
              <a:spcBef>
                <a:spcPts val="200"/>
              </a:spcBef>
            </a:pPr>
            <a:r>
              <a:rPr sz="1100">
                <a:solidFill>
                  <a:srgbClr val="1C1917"/>
                </a:solidFill>
                <a:latin typeface="Calibri"/>
              </a:rPr>
              <a:t>Remove the 402(g) letter if there are no returns, or the failure was not processed by 15 April.</a:t>
            </a:r>
          </a:p>
        </p:txBody>
      </p:sp>
      <p:sp>
        <p:nvSpPr>
          <p:cNvPr id="20" name="Process 19"/>
          <p:cNvSpPr/>
          <p:nvPr/>
        </p:nvSpPr>
        <p:spPr>
          <a:xfrm>
            <a:off x="320040" y="3520440"/>
            <a:ext cx="5669280" cy="1115568"/>
          </a:xfrm>
          <a:prstGeom prst="flowChartProcess">
            <a:avLst/>
          </a:prstGeom>
          <a:solidFill>
            <a:srgbClr val="E5F6F4"/>
          </a:solidFill>
          <a:ln w="15875">
            <a:solidFill>
              <a:srgbClr val="0F6E6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b="1" sz="1300">
                <a:solidFill>
                  <a:srgbClr val="0F6E6B"/>
                </a:solidFill>
                <a:latin typeface="Calibri"/>
              </a:rPr>
              <a:t>415 limit</a:t>
            </a:r>
          </a:p>
          <a:p>
            <a:pPr algn="ctr">
              <a:spcBef>
                <a:spcPts val="200"/>
              </a:spcBef>
            </a:pPr>
            <a:r>
              <a:rPr sz="1100">
                <a:solidFill>
                  <a:srgbClr val="1C1917"/>
                </a:solidFill>
                <a:latin typeface="Calibri"/>
              </a:rPr>
              <a:t>Remove the 415 failure information and the 415 letter if the plan did not fail 415.</a:t>
            </a:r>
          </a:p>
        </p:txBody>
      </p:sp>
      <p:sp>
        <p:nvSpPr>
          <p:cNvPr id="21" name="Process 20"/>
          <p:cNvSpPr/>
          <p:nvPr/>
        </p:nvSpPr>
        <p:spPr>
          <a:xfrm>
            <a:off x="6263640" y="3520440"/>
            <a:ext cx="5669280" cy="1115568"/>
          </a:xfrm>
          <a:prstGeom prst="flowChartProcess">
            <a:avLst/>
          </a:prstGeom>
          <a:solidFill>
            <a:srgbClr val="E5F6F4"/>
          </a:solidFill>
          <a:ln w="15875">
            <a:solidFill>
              <a:srgbClr val="0F6E6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b="1" sz="1300">
                <a:solidFill>
                  <a:srgbClr val="0F6E6B"/>
                </a:solidFill>
                <a:latin typeface="Calibri"/>
              </a:rPr>
              <a:t>Excess Summary</a:t>
            </a:r>
          </a:p>
          <a:p>
            <a:pPr algn="ctr">
              <a:spcBef>
                <a:spcPts val="200"/>
              </a:spcBef>
            </a:pPr>
            <a:r>
              <a:rPr sz="1100">
                <a:solidFill>
                  <a:srgbClr val="1C1917"/>
                </a:solidFill>
                <a:latin typeface="Calibri"/>
              </a:rPr>
              <a:t>Keep it for a 402(g) or 415 failure, or for ADP/ACP when a participant is partially vested.</a:t>
            </a:r>
          </a:p>
        </p:txBody>
      </p:sp>
      <p:sp>
        <p:nvSpPr>
          <p:cNvPr id="22" name="Process 21"/>
          <p:cNvSpPr/>
          <p:nvPr/>
        </p:nvSpPr>
        <p:spPr>
          <a:xfrm>
            <a:off x="320040" y="4754880"/>
            <a:ext cx="5669280" cy="1115568"/>
          </a:xfrm>
          <a:prstGeom prst="flowChartProcess">
            <a:avLst/>
          </a:prstGeom>
          <a:solidFill>
            <a:srgbClr val="E5F6F4"/>
          </a:solidFill>
          <a:ln w="15875">
            <a:solidFill>
              <a:srgbClr val="0F6E6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b="1" sz="1300">
                <a:solidFill>
                  <a:srgbClr val="0F6E6B"/>
                </a:solidFill>
                <a:latin typeface="Calibri"/>
              </a:rPr>
              <a:t>Year End Recap</a:t>
            </a:r>
          </a:p>
          <a:p>
            <a:pPr algn="ctr">
              <a:spcBef>
                <a:spcPts val="200"/>
              </a:spcBef>
            </a:pPr>
            <a:r>
              <a:rPr sz="1100">
                <a:solidFill>
                  <a:srgbClr val="1C1917"/>
                </a:solidFill>
                <a:latin typeface="Calibri"/>
              </a:rPr>
              <a:t>Keep or remove bullets for HCE, Safe Harbor, top heavy, catch-up, and the match.</a:t>
            </a:r>
          </a:p>
        </p:txBody>
      </p:sp>
      <p:sp>
        <p:nvSpPr>
          <p:cNvPr id="23" name="Process 22"/>
          <p:cNvSpPr/>
          <p:nvPr/>
        </p:nvSpPr>
        <p:spPr>
          <a:xfrm>
            <a:off x="6263640" y="4754880"/>
            <a:ext cx="5669280" cy="1115568"/>
          </a:xfrm>
          <a:prstGeom prst="flowChartProcess">
            <a:avLst/>
          </a:prstGeom>
          <a:solidFill>
            <a:srgbClr val="E5F6F4"/>
          </a:solidFill>
          <a:ln w="15875">
            <a:solidFill>
              <a:srgbClr val="0F6E6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b="1" sz="1300">
                <a:solidFill>
                  <a:srgbClr val="0F6E6B"/>
                </a:solidFill>
                <a:latin typeface="Calibri"/>
              </a:rPr>
              <a:t>Bookmarks</a:t>
            </a:r>
          </a:p>
          <a:p>
            <a:pPr algn="ctr">
              <a:spcBef>
                <a:spcPts val="200"/>
              </a:spcBef>
            </a:pPr>
            <a:r>
              <a:rPr sz="1100">
                <a:solidFill>
                  <a:srgbClr val="1C1917"/>
                </a:solidFill>
                <a:latin typeface="Calibri"/>
              </a:rPr>
              <a:t>Add a bookmark for each remaining section. A 401(k) does not bookmark BRF. A 403(b) uses HCE and keeps BRF. Variance is not bookmarked.</a:t>
            </a:r>
          </a:p>
        </p:txBody>
      </p:sp>
      <p:sp>
        <p:nvSpPr>
          <p:cNvPr id="24" name="Rounded Rectangle 23"/>
          <p:cNvSpPr/>
          <p:nvPr/>
        </p:nvSpPr>
        <p:spPr>
          <a:xfrm>
            <a:off x="320040" y="6035040"/>
            <a:ext cx="11521440" cy="566928"/>
          </a:xfrm>
          <a:prstGeom prst="roundRect">
            <a:avLst/>
          </a:prstGeom>
          <a:solidFill>
            <a:srgbClr val="FFFBF0"/>
          </a:solidFill>
          <a:ln>
            <a:solidFill>
              <a:srgbClr val="A16207"/>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b="1" sz="1300">
                <a:solidFill>
                  <a:srgbClr val="A16207"/>
                </a:solidFill>
                <a:latin typeface="Calibri"/>
              </a:rPr>
              <a:t>Also removed</a:t>
            </a:r>
          </a:p>
          <a:p>
            <a:pPr algn="ctr">
              <a:spcBef>
                <a:spcPts val="200"/>
              </a:spcBef>
            </a:pPr>
            <a:r>
              <a:rPr sz="1300">
                <a:solidFill>
                  <a:srgbClr val="1C1917"/>
                </a:solidFill>
                <a:latin typeface="Calibri"/>
              </a:rPr>
              <a:t>Audited wording, 5500 wording, and escalation wording. A 457 package may keep the Statement of Contribution.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F6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46304"/>
            <a:ext cx="7772400" cy="329184"/>
          </a:xfrm>
          <a:prstGeom prst="rect">
            <a:avLst/>
          </a:prstGeom>
          <a:noFill/>
        </p:spPr>
        <p:txBody>
          <a:bodyPr wrap="square">
            <a:spAutoFit/>
          </a:bodyPr>
          <a:lstStyle/>
          <a:p>
            <a:pPr algn="l"/>
            <a:r>
              <a:rPr sz="2200" b="1">
                <a:solidFill>
                  <a:srgbClr val="1E3A5F"/>
                </a:solidFill>
                <a:latin typeface="Calibri"/>
              </a:rPr>
              <a:t>Checks on the finished pages</a:t>
            </a:r>
          </a:p>
        </p:txBody>
      </p:sp>
      <p:sp>
        <p:nvSpPr>
          <p:cNvPr id="5" name="TextBox 4"/>
          <p:cNvSpPr txBox="1"/>
          <p:nvPr/>
        </p:nvSpPr>
        <p:spPr>
          <a:xfrm>
            <a:off x="7680960" y="201168"/>
            <a:ext cx="4206240" cy="274320"/>
          </a:xfrm>
          <a:prstGeom prst="rect">
            <a:avLst/>
          </a:prstGeom>
          <a:noFill/>
        </p:spPr>
        <p:txBody>
          <a:bodyPr wrap="square">
            <a:spAutoFit/>
          </a:bodyPr>
          <a:lstStyle/>
          <a:p>
            <a:pPr algn="l"/>
            <a:r>
              <a:rPr sz="1200" b="0">
                <a:solidFill>
                  <a:srgbClr val="3F4A5A"/>
                </a:solidFill>
                <a:latin typeface="Calibri"/>
              </a:rPr>
              <a:t>Page 4 of 5   ·   A failed check is shown. The page is not rebuilt.</a:t>
            </a:r>
          </a:p>
        </p:txBody>
      </p:sp>
      <p:sp>
        <p:nvSpPr>
          <p:cNvPr id="6" name="Terminator 5"/>
          <p:cNvSpPr/>
          <p:nvPr/>
        </p:nvSpPr>
        <p:spPr>
          <a:xfrm>
            <a:off x="320040" y="621792"/>
            <a:ext cx="292608" cy="237744"/>
          </a:xfrm>
          <a:prstGeom prst="flowChartTerminator">
            <a:avLst/>
          </a:prstGeom>
          <a:solidFill>
            <a:srgbClr val="FFFFFF"/>
          </a:solidFill>
          <a:ln>
            <a:solidFill>
              <a:srgbClr val="1B7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 y="603504"/>
            <a:ext cx="1965960" cy="274320"/>
          </a:xfrm>
          <a:prstGeom prst="rect">
            <a:avLst/>
          </a:prstGeom>
          <a:noFill/>
        </p:spPr>
        <p:txBody>
          <a:bodyPr wrap="square">
            <a:spAutoFit/>
          </a:bodyPr>
          <a:lstStyle/>
          <a:p>
            <a:pPr algn="l"/>
            <a:r>
              <a:rPr sz="1100" b="0">
                <a:solidFill>
                  <a:srgbClr val="3F4A5A"/>
                </a:solidFill>
                <a:latin typeface="Calibri"/>
              </a:rPr>
              <a:t>Oval   Start or end</a:t>
            </a:r>
          </a:p>
        </p:txBody>
      </p:sp>
      <p:sp>
        <p:nvSpPr>
          <p:cNvPr id="8" name="Process 7"/>
          <p:cNvSpPr/>
          <p:nvPr/>
        </p:nvSpPr>
        <p:spPr>
          <a:xfrm>
            <a:off x="2651760" y="621792"/>
            <a:ext cx="292608" cy="237744"/>
          </a:xfrm>
          <a:prstGeom prst="flowChartProcess">
            <a:avLst/>
          </a:prstGeom>
          <a:solidFill>
            <a:srgbClr val="FFFFFF"/>
          </a:solidFill>
          <a:ln>
            <a:solidFill>
              <a:srgbClr val="1D4E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80944" y="603504"/>
            <a:ext cx="1965960" cy="274320"/>
          </a:xfrm>
          <a:prstGeom prst="rect">
            <a:avLst/>
          </a:prstGeom>
          <a:noFill/>
        </p:spPr>
        <p:txBody>
          <a:bodyPr wrap="square">
            <a:spAutoFit/>
          </a:bodyPr>
          <a:lstStyle/>
          <a:p>
            <a:pPr algn="l"/>
            <a:r>
              <a:rPr sz="1100" b="0">
                <a:solidFill>
                  <a:srgbClr val="3F4A5A"/>
                </a:solidFill>
                <a:latin typeface="Calibri"/>
              </a:rPr>
              <a:t>Rectangle   A step</a:t>
            </a:r>
          </a:p>
        </p:txBody>
      </p:sp>
      <p:sp>
        <p:nvSpPr>
          <p:cNvPr id="10" name="Decision 9"/>
          <p:cNvSpPr/>
          <p:nvPr/>
        </p:nvSpPr>
        <p:spPr>
          <a:xfrm>
            <a:off x="4983479" y="621792"/>
            <a:ext cx="292608" cy="237744"/>
          </a:xfrm>
          <a:prstGeom prst="flowChartDecision">
            <a:avLst/>
          </a:prstGeom>
          <a:solidFill>
            <a:srgbClr val="FFFFFF"/>
          </a:solidFill>
          <a:ln>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12664" y="603504"/>
            <a:ext cx="1965960" cy="274320"/>
          </a:xfrm>
          <a:prstGeom prst="rect">
            <a:avLst/>
          </a:prstGeom>
          <a:noFill/>
        </p:spPr>
        <p:txBody>
          <a:bodyPr wrap="square">
            <a:spAutoFit/>
          </a:bodyPr>
          <a:lstStyle/>
          <a:p>
            <a:pPr algn="l"/>
            <a:r>
              <a:rPr sz="1100" b="0">
                <a:solidFill>
                  <a:srgbClr val="3F4A5A"/>
                </a:solidFill>
                <a:latin typeface="Calibri"/>
              </a:rPr>
              <a:t>Diamond   Yes or no</a:t>
            </a:r>
          </a:p>
        </p:txBody>
      </p:sp>
      <p:sp>
        <p:nvSpPr>
          <p:cNvPr id="12" name="Data 11"/>
          <p:cNvSpPr/>
          <p:nvPr/>
        </p:nvSpPr>
        <p:spPr>
          <a:xfrm>
            <a:off x="7315199" y="621792"/>
            <a:ext cx="292608" cy="237744"/>
          </a:xfrm>
          <a:prstGeom prst="flowChartInputOutput">
            <a:avLst/>
          </a:prstGeom>
          <a:solidFill>
            <a:srgbClr val="FFFFFF"/>
          </a:solidFill>
          <a:ln>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44383" y="603504"/>
            <a:ext cx="1965960" cy="274320"/>
          </a:xfrm>
          <a:prstGeom prst="rect">
            <a:avLst/>
          </a:prstGeom>
          <a:noFill/>
        </p:spPr>
        <p:txBody>
          <a:bodyPr wrap="square">
            <a:spAutoFit/>
          </a:bodyPr>
          <a:lstStyle/>
          <a:p>
            <a:pPr algn="l"/>
            <a:r>
              <a:rPr sz="1100" b="0">
                <a:solidFill>
                  <a:srgbClr val="3F4A5A"/>
                </a:solidFill>
                <a:latin typeface="Calibri"/>
              </a:rPr>
              <a:t>Slanted   Files you add</a:t>
            </a:r>
          </a:p>
        </p:txBody>
      </p:sp>
      <p:sp>
        <p:nvSpPr>
          <p:cNvPr id="14" name="Document 13"/>
          <p:cNvSpPr/>
          <p:nvPr/>
        </p:nvSpPr>
        <p:spPr>
          <a:xfrm>
            <a:off x="9646919" y="621792"/>
            <a:ext cx="292608" cy="237744"/>
          </a:xfrm>
          <a:prstGeom prst="flowChartDocument">
            <a:avLst/>
          </a:prstGeom>
          <a:solidFill>
            <a:srgbClr val="FFFFFF"/>
          </a:solidFill>
          <a:ln>
            <a:solidFill>
              <a:srgbClr val="0F6E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76103" y="603504"/>
            <a:ext cx="1965960" cy="274320"/>
          </a:xfrm>
          <a:prstGeom prst="rect">
            <a:avLst/>
          </a:prstGeom>
          <a:noFill/>
        </p:spPr>
        <p:txBody>
          <a:bodyPr wrap="square">
            <a:spAutoFit/>
          </a:bodyPr>
          <a:lstStyle/>
          <a:p>
            <a:pPr algn="l"/>
            <a:r>
              <a:rPr sz="1100" b="0">
                <a:solidFill>
                  <a:srgbClr val="3F4A5A"/>
                </a:solidFill>
                <a:latin typeface="Calibri"/>
              </a:rPr>
              <a:t>Document   File produced</a:t>
            </a:r>
          </a:p>
        </p:txBody>
      </p:sp>
      <p:sp>
        <p:nvSpPr>
          <p:cNvPr id="16" name="Process 15"/>
          <p:cNvSpPr/>
          <p:nvPr/>
        </p:nvSpPr>
        <p:spPr>
          <a:xfrm>
            <a:off x="320040" y="1051560"/>
            <a:ext cx="5669280" cy="1389888"/>
          </a:xfrm>
          <a:prstGeom prst="flowChartProcess">
            <a:avLst/>
          </a:prstGeom>
          <a:solidFill>
            <a:srgbClr val="E5F6F4"/>
          </a:solidFill>
          <a:ln w="15875">
            <a:solidFill>
              <a:srgbClr val="0F6E6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b="1" sz="1300">
                <a:solidFill>
                  <a:srgbClr val="0F6E6B"/>
                </a:solidFill>
                <a:latin typeface="Calibri"/>
              </a:rPr>
              <a:t>Result Summary</a:t>
            </a:r>
          </a:p>
          <a:p>
            <a:pPr algn="ctr">
              <a:spcBef>
                <a:spcPts val="200"/>
              </a:spcBef>
            </a:pPr>
            <a:r>
              <a:rPr sz="1300">
                <a:solidFill>
                  <a:srgbClr val="1C1917"/>
                </a:solidFill>
                <a:latin typeface="Calibri"/>
              </a:rPr>
              <a:t>Compare top heavy, including 0.00% and Plan is or is not Top Heavy, and pass or fail for 410(b), 401(a)(4), 414(s), 402(g), 415, ADP, and ACP.</a:t>
            </a:r>
          </a:p>
        </p:txBody>
      </p:sp>
      <p:sp>
        <p:nvSpPr>
          <p:cNvPr id="17" name="Process 16"/>
          <p:cNvSpPr/>
          <p:nvPr/>
        </p:nvSpPr>
        <p:spPr>
          <a:xfrm>
            <a:off x="6263640" y="1051560"/>
            <a:ext cx="5669280" cy="1389888"/>
          </a:xfrm>
          <a:prstGeom prst="flowChartProcess">
            <a:avLst/>
          </a:prstGeom>
          <a:solidFill>
            <a:srgbClr val="E5F6F4"/>
          </a:solidFill>
          <a:ln w="15875">
            <a:solidFill>
              <a:srgbClr val="0F6E6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b="1" sz="1300">
                <a:solidFill>
                  <a:srgbClr val="0F6E6B"/>
                </a:solidFill>
                <a:latin typeface="Calibri"/>
              </a:rPr>
              <a:t>Compliance reports</a:t>
            </a:r>
          </a:p>
          <a:p>
            <a:pPr algn="ctr">
              <a:spcBef>
                <a:spcPts val="200"/>
              </a:spcBef>
            </a:pPr>
            <a:r>
              <a:rPr sz="1300">
                <a:solidFill>
                  <a:srgbClr val="1C1917"/>
                </a:solidFill>
                <a:latin typeface="Calibri"/>
              </a:rPr>
              <a:t>Expect three Compliance and Administrative Report pages. A different count is flagged. Missing pages are not created.</a:t>
            </a:r>
          </a:p>
        </p:txBody>
      </p:sp>
      <p:sp>
        <p:nvSpPr>
          <p:cNvPr id="18" name="Process 17"/>
          <p:cNvSpPr/>
          <p:nvPr/>
        </p:nvSpPr>
        <p:spPr>
          <a:xfrm>
            <a:off x="320040" y="2606039"/>
            <a:ext cx="5669280" cy="1389888"/>
          </a:xfrm>
          <a:prstGeom prst="flowChartProcess">
            <a:avLst/>
          </a:prstGeom>
          <a:solidFill>
            <a:srgbClr val="E5F6F4"/>
          </a:solidFill>
          <a:ln w="15875">
            <a:solidFill>
              <a:srgbClr val="0F6E6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b="1" sz="1300">
                <a:solidFill>
                  <a:srgbClr val="0F6E6B"/>
                </a:solidFill>
                <a:latin typeface="Calibri"/>
              </a:rPr>
              <a:t>Client variance</a:t>
            </a:r>
          </a:p>
          <a:p>
            <a:pPr algn="ctr">
              <a:spcBef>
                <a:spcPts val="200"/>
              </a:spcBef>
            </a:pPr>
            <a:r>
              <a:rPr sz="1300">
                <a:solidFill>
                  <a:srgbClr val="1C1917"/>
                </a:solidFill>
                <a:latin typeface="Calibri"/>
              </a:rPr>
              <a:t>Check plan identity, no Social Security number, zeroes as 0.00, one font size, names as Last, First, and text at the page edge.</a:t>
            </a:r>
          </a:p>
        </p:txBody>
      </p:sp>
      <p:sp>
        <p:nvSpPr>
          <p:cNvPr id="19" name="Process 18"/>
          <p:cNvSpPr/>
          <p:nvPr/>
        </p:nvSpPr>
        <p:spPr>
          <a:xfrm>
            <a:off x="6263640" y="2606039"/>
            <a:ext cx="5669280" cy="1389888"/>
          </a:xfrm>
          <a:prstGeom prst="flowChartProcess">
            <a:avLst/>
          </a:prstGeom>
          <a:solidFill>
            <a:srgbClr val="E5F6F4"/>
          </a:solidFill>
          <a:ln w="15875">
            <a:solidFill>
              <a:srgbClr val="0F6E6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b="1" sz="1300">
                <a:solidFill>
                  <a:srgbClr val="0F6E6B"/>
                </a:solidFill>
                <a:latin typeface="Calibri"/>
              </a:rPr>
              <a:t>Every report</a:t>
            </a:r>
          </a:p>
          <a:p>
            <a:pPr algn="ctr">
              <a:spcBef>
                <a:spcPts val="200"/>
              </a:spcBef>
            </a:pPr>
            <a:r>
              <a:rPr sz="1300">
                <a:solidFill>
                  <a:srgbClr val="1C1917"/>
                </a:solidFill>
                <a:latin typeface="Calibri"/>
              </a:rPr>
              <a:t>Check the plan number and plan name. On the excess notice, also check the plan year end.</a:t>
            </a:r>
          </a:p>
        </p:txBody>
      </p:sp>
      <p:sp>
        <p:nvSpPr>
          <p:cNvPr id="20" name="Process 19"/>
          <p:cNvSpPr/>
          <p:nvPr/>
        </p:nvSpPr>
        <p:spPr>
          <a:xfrm>
            <a:off x="320040" y="4160520"/>
            <a:ext cx="5669280" cy="1389888"/>
          </a:xfrm>
          <a:prstGeom prst="flowChartProcess">
            <a:avLst/>
          </a:prstGeom>
          <a:solidFill>
            <a:srgbClr val="E5F6F4"/>
          </a:solidFill>
          <a:ln w="15875">
            <a:solidFill>
              <a:srgbClr val="0F6E6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b="1" sz="1300">
                <a:solidFill>
                  <a:srgbClr val="0F6E6B"/>
                </a:solidFill>
                <a:latin typeface="Calibri"/>
              </a:rPr>
              <a:t>Cover date</a:t>
            </a:r>
          </a:p>
          <a:p>
            <a:pPr algn="ctr">
              <a:spcBef>
                <a:spcPts val="200"/>
              </a:spcBef>
            </a:pPr>
            <a:r>
              <a:rPr sz="1300">
                <a:solidFill>
                  <a:srgbClr val="1C1917"/>
                </a:solidFill>
                <a:latin typeface="Calibri"/>
              </a:rPr>
              <a:t>Every Process sets the cover letter date to today. Off-calendar 402(g) dates are rewritten too.</a:t>
            </a:r>
          </a:p>
        </p:txBody>
      </p:sp>
      <p:sp>
        <p:nvSpPr>
          <p:cNvPr id="21" name="Process 20"/>
          <p:cNvSpPr/>
          <p:nvPr/>
        </p:nvSpPr>
        <p:spPr>
          <a:xfrm>
            <a:off x="6263640" y="4160520"/>
            <a:ext cx="5669280" cy="1389888"/>
          </a:xfrm>
          <a:prstGeom prst="flowChartProcess">
            <a:avLst/>
          </a:prstGeom>
          <a:solidFill>
            <a:srgbClr val="E5F6F4"/>
          </a:solidFill>
          <a:ln w="15875">
            <a:solidFill>
              <a:srgbClr val="0F6E6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b="1" sz="1300">
                <a:solidFill>
                  <a:srgbClr val="0F6E6B"/>
                </a:solidFill>
                <a:latin typeface="Calibri"/>
              </a:rPr>
              <a:t>Other company names</a:t>
            </a:r>
          </a:p>
          <a:p>
            <a:pPr algn="ctr">
              <a:spcBef>
                <a:spcPts val="200"/>
              </a:spcBef>
            </a:pPr>
            <a:r>
              <a:rPr sz="1300">
                <a:solidFill>
                  <a:srgbClr val="1C1917"/>
                </a:solidFill>
                <a:latin typeface="Calibri"/>
              </a:rPr>
              <a:t>The Mutual of America stamp is checked. Any other company name on the cover is still a visual check.</a:t>
            </a:r>
          </a:p>
        </p:txBody>
      </p:sp>
      <p:sp>
        <p:nvSpPr>
          <p:cNvPr id="22" name="TextBox 21"/>
          <p:cNvSpPr txBox="1"/>
          <p:nvPr/>
        </p:nvSpPr>
        <p:spPr>
          <a:xfrm>
            <a:off x="7863840" y="6355080"/>
            <a:ext cx="3931920" cy="292608"/>
          </a:xfrm>
          <a:prstGeom prst="rect">
            <a:avLst/>
          </a:prstGeom>
          <a:noFill/>
        </p:spPr>
        <p:txBody>
          <a:bodyPr wrap="square">
            <a:spAutoFit/>
          </a:bodyPr>
          <a:lstStyle/>
          <a:p>
            <a:pPr algn="l"/>
            <a:r>
              <a:rPr sz="1400" b="1">
                <a:solidFill>
                  <a:srgbClr val="1E3A5F"/>
                </a:solidFill>
                <a:latin typeface="Calibri"/>
              </a:rPr>
              <a:t>Continued on page 5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F6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46304"/>
            <a:ext cx="7772400" cy="329184"/>
          </a:xfrm>
          <a:prstGeom prst="rect">
            <a:avLst/>
          </a:prstGeom>
          <a:noFill/>
        </p:spPr>
        <p:txBody>
          <a:bodyPr wrap="square">
            <a:spAutoFit/>
          </a:bodyPr>
          <a:lstStyle/>
          <a:p>
            <a:pPr algn="l"/>
            <a:r>
              <a:rPr sz="2200" b="1">
                <a:solidFill>
                  <a:srgbClr val="1E3A5F"/>
                </a:solidFill>
                <a:latin typeface="Calibri"/>
              </a:rPr>
              <a:t>Save, preview, and finish</a:t>
            </a:r>
          </a:p>
        </p:txBody>
      </p:sp>
      <p:sp>
        <p:nvSpPr>
          <p:cNvPr id="5" name="TextBox 4"/>
          <p:cNvSpPr txBox="1"/>
          <p:nvPr/>
        </p:nvSpPr>
        <p:spPr>
          <a:xfrm>
            <a:off x="7680960" y="201168"/>
            <a:ext cx="4206240" cy="274320"/>
          </a:xfrm>
          <a:prstGeom prst="rect">
            <a:avLst/>
          </a:prstGeom>
          <a:noFill/>
        </p:spPr>
        <p:txBody>
          <a:bodyPr wrap="square">
            <a:spAutoFit/>
          </a:bodyPr>
          <a:lstStyle/>
          <a:p>
            <a:pPr algn="l"/>
            <a:r>
              <a:rPr sz="1200" b="0">
                <a:solidFill>
                  <a:srgbClr val="3F4A5A"/>
                </a:solidFill>
                <a:latin typeface="Calibri"/>
              </a:rPr>
              <a:t>Page 5 of 5   ·   Yellow marks stay in the preview only</a:t>
            </a:r>
          </a:p>
        </p:txBody>
      </p:sp>
      <p:sp>
        <p:nvSpPr>
          <p:cNvPr id="6" name="Terminator 5"/>
          <p:cNvSpPr/>
          <p:nvPr/>
        </p:nvSpPr>
        <p:spPr>
          <a:xfrm>
            <a:off x="320040" y="621792"/>
            <a:ext cx="292608" cy="237744"/>
          </a:xfrm>
          <a:prstGeom prst="flowChartTerminator">
            <a:avLst/>
          </a:prstGeom>
          <a:solidFill>
            <a:srgbClr val="FFFFFF"/>
          </a:solidFill>
          <a:ln>
            <a:solidFill>
              <a:srgbClr val="1B7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 y="603504"/>
            <a:ext cx="1965960" cy="274320"/>
          </a:xfrm>
          <a:prstGeom prst="rect">
            <a:avLst/>
          </a:prstGeom>
          <a:noFill/>
        </p:spPr>
        <p:txBody>
          <a:bodyPr wrap="square">
            <a:spAutoFit/>
          </a:bodyPr>
          <a:lstStyle/>
          <a:p>
            <a:pPr algn="l"/>
            <a:r>
              <a:rPr sz="1100" b="0">
                <a:solidFill>
                  <a:srgbClr val="3F4A5A"/>
                </a:solidFill>
                <a:latin typeface="Calibri"/>
              </a:rPr>
              <a:t>Oval   Start or end</a:t>
            </a:r>
          </a:p>
        </p:txBody>
      </p:sp>
      <p:sp>
        <p:nvSpPr>
          <p:cNvPr id="8" name="Process 7"/>
          <p:cNvSpPr/>
          <p:nvPr/>
        </p:nvSpPr>
        <p:spPr>
          <a:xfrm>
            <a:off x="2651760" y="621792"/>
            <a:ext cx="292608" cy="237744"/>
          </a:xfrm>
          <a:prstGeom prst="flowChartProcess">
            <a:avLst/>
          </a:prstGeom>
          <a:solidFill>
            <a:srgbClr val="FFFFFF"/>
          </a:solidFill>
          <a:ln>
            <a:solidFill>
              <a:srgbClr val="1D4E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80944" y="603504"/>
            <a:ext cx="1965960" cy="274320"/>
          </a:xfrm>
          <a:prstGeom prst="rect">
            <a:avLst/>
          </a:prstGeom>
          <a:noFill/>
        </p:spPr>
        <p:txBody>
          <a:bodyPr wrap="square">
            <a:spAutoFit/>
          </a:bodyPr>
          <a:lstStyle/>
          <a:p>
            <a:pPr algn="l"/>
            <a:r>
              <a:rPr sz="1100" b="0">
                <a:solidFill>
                  <a:srgbClr val="3F4A5A"/>
                </a:solidFill>
                <a:latin typeface="Calibri"/>
              </a:rPr>
              <a:t>Rectangle   A step</a:t>
            </a:r>
          </a:p>
        </p:txBody>
      </p:sp>
      <p:sp>
        <p:nvSpPr>
          <p:cNvPr id="10" name="Decision 9"/>
          <p:cNvSpPr/>
          <p:nvPr/>
        </p:nvSpPr>
        <p:spPr>
          <a:xfrm>
            <a:off x="4983479" y="621792"/>
            <a:ext cx="292608" cy="237744"/>
          </a:xfrm>
          <a:prstGeom prst="flowChartDecision">
            <a:avLst/>
          </a:prstGeom>
          <a:solidFill>
            <a:srgbClr val="FFFFFF"/>
          </a:solidFill>
          <a:ln>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12664" y="603504"/>
            <a:ext cx="1965960" cy="274320"/>
          </a:xfrm>
          <a:prstGeom prst="rect">
            <a:avLst/>
          </a:prstGeom>
          <a:noFill/>
        </p:spPr>
        <p:txBody>
          <a:bodyPr wrap="square">
            <a:spAutoFit/>
          </a:bodyPr>
          <a:lstStyle/>
          <a:p>
            <a:pPr algn="l"/>
            <a:r>
              <a:rPr sz="1100" b="0">
                <a:solidFill>
                  <a:srgbClr val="3F4A5A"/>
                </a:solidFill>
                <a:latin typeface="Calibri"/>
              </a:rPr>
              <a:t>Diamond   Yes or no</a:t>
            </a:r>
          </a:p>
        </p:txBody>
      </p:sp>
      <p:sp>
        <p:nvSpPr>
          <p:cNvPr id="12" name="Data 11"/>
          <p:cNvSpPr/>
          <p:nvPr/>
        </p:nvSpPr>
        <p:spPr>
          <a:xfrm>
            <a:off x="7315199" y="621792"/>
            <a:ext cx="292608" cy="237744"/>
          </a:xfrm>
          <a:prstGeom prst="flowChartInputOutput">
            <a:avLst/>
          </a:prstGeom>
          <a:solidFill>
            <a:srgbClr val="FFFFFF"/>
          </a:solidFill>
          <a:ln>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44383" y="603504"/>
            <a:ext cx="1965960" cy="274320"/>
          </a:xfrm>
          <a:prstGeom prst="rect">
            <a:avLst/>
          </a:prstGeom>
          <a:noFill/>
        </p:spPr>
        <p:txBody>
          <a:bodyPr wrap="square">
            <a:spAutoFit/>
          </a:bodyPr>
          <a:lstStyle/>
          <a:p>
            <a:pPr algn="l"/>
            <a:r>
              <a:rPr sz="1100" b="0">
                <a:solidFill>
                  <a:srgbClr val="3F4A5A"/>
                </a:solidFill>
                <a:latin typeface="Calibri"/>
              </a:rPr>
              <a:t>Slanted   Files you add</a:t>
            </a:r>
          </a:p>
        </p:txBody>
      </p:sp>
      <p:sp>
        <p:nvSpPr>
          <p:cNvPr id="14" name="Document 13"/>
          <p:cNvSpPr/>
          <p:nvPr/>
        </p:nvSpPr>
        <p:spPr>
          <a:xfrm>
            <a:off x="9646919" y="621792"/>
            <a:ext cx="292608" cy="237744"/>
          </a:xfrm>
          <a:prstGeom prst="flowChartDocument">
            <a:avLst/>
          </a:prstGeom>
          <a:solidFill>
            <a:srgbClr val="FFFFFF"/>
          </a:solidFill>
          <a:ln>
            <a:solidFill>
              <a:srgbClr val="0F6E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76103" y="603504"/>
            <a:ext cx="1965960" cy="274320"/>
          </a:xfrm>
          <a:prstGeom prst="rect">
            <a:avLst/>
          </a:prstGeom>
          <a:noFill/>
        </p:spPr>
        <p:txBody>
          <a:bodyPr wrap="square">
            <a:spAutoFit/>
          </a:bodyPr>
          <a:lstStyle/>
          <a:p>
            <a:pPr algn="l"/>
            <a:r>
              <a:rPr sz="1100" b="0">
                <a:solidFill>
                  <a:srgbClr val="3F4A5A"/>
                </a:solidFill>
                <a:latin typeface="Calibri"/>
              </a:rPr>
              <a:t>Document   File produced</a:t>
            </a:r>
          </a:p>
        </p:txBody>
      </p:sp>
      <p:sp>
        <p:nvSpPr>
          <p:cNvPr id="16" name="Document 15"/>
          <p:cNvSpPr/>
          <p:nvPr/>
        </p:nvSpPr>
        <p:spPr>
          <a:xfrm>
            <a:off x="320040" y="1024128"/>
            <a:ext cx="5669280" cy="1051560"/>
          </a:xfrm>
          <a:prstGeom prst="flowChartDocument">
            <a:avLst/>
          </a:prstGeom>
          <a:solidFill>
            <a:srgbClr val="E5F6F4"/>
          </a:solidFill>
          <a:ln w="15875">
            <a:solidFill>
              <a:srgbClr val="0F6E6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b="1" sz="1300">
                <a:solidFill>
                  <a:srgbClr val="0F6E6B"/>
                </a:solidFill>
                <a:latin typeface="Calibri"/>
              </a:rPr>
              <a:t>Application</a:t>
            </a:r>
          </a:p>
          <a:p>
            <a:pPr algn="ctr">
              <a:spcBef>
                <a:spcPts val="200"/>
              </a:spcBef>
            </a:pPr>
            <a:r>
              <a:rPr sz="1300">
                <a:solidFill>
                  <a:srgbClr val="1C1917"/>
                </a:solidFill>
                <a:latin typeface="Calibri"/>
              </a:rPr>
              <a:t>Save the named PDF and an Outlook draft, unless Assembly stops blocks a failed check.</a:t>
            </a:r>
          </a:p>
        </p:txBody>
      </p:sp>
      <p:sp>
        <p:nvSpPr>
          <p:cNvPr id="17" name="Document 16"/>
          <p:cNvSpPr/>
          <p:nvPr/>
        </p:nvSpPr>
        <p:spPr>
          <a:xfrm>
            <a:off x="6217920" y="1024128"/>
            <a:ext cx="5623560" cy="1051560"/>
          </a:xfrm>
          <a:prstGeom prst="flowChartDocument">
            <a:avLst/>
          </a:prstGeom>
          <a:solidFill>
            <a:srgbClr val="E5F6F4"/>
          </a:solidFill>
          <a:ln w="15875">
            <a:solidFill>
              <a:srgbClr val="0F6E6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b="1" sz="1300">
                <a:solidFill>
                  <a:srgbClr val="0F6E6B"/>
                </a:solidFill>
                <a:latin typeface="Calibri"/>
              </a:rPr>
              <a:t>Application</a:t>
            </a:r>
          </a:p>
          <a:p>
            <a:pPr algn="ctr">
              <a:spcBef>
                <a:spcPts val="200"/>
              </a:spcBef>
            </a:pPr>
            <a:r>
              <a:rPr sz="1200">
                <a:solidFill>
                  <a:srgbClr val="1C1917"/>
                </a:solidFill>
                <a:latin typeface="Calibri"/>
              </a:rPr>
              <a:t>Add a log row: plan, HCE, allocation, P / F / N/A, and top heavy. Comp limit is N/A. Tester columns stay blank.</a:t>
            </a:r>
          </a:p>
        </p:txBody>
      </p:sp>
      <p:sp>
        <p:nvSpPr>
          <p:cNvPr id="18" name="Decision 17"/>
          <p:cNvSpPr/>
          <p:nvPr/>
        </p:nvSpPr>
        <p:spPr>
          <a:xfrm>
            <a:off x="4709160" y="2286000"/>
            <a:ext cx="2743200" cy="960120"/>
          </a:xfrm>
          <a:prstGeom prst="flowChartDecision">
            <a:avLst/>
          </a:prstGeom>
          <a:solidFill>
            <a:srgbClr val="FFF4D4"/>
          </a:solidFill>
          <a:ln w="15875">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b="1" sz="1300">
                <a:solidFill>
                  <a:srgbClr val="B45309"/>
                </a:solidFill>
                <a:latin typeface="Calibri"/>
              </a:rPr>
              <a:t>Highlights?</a:t>
            </a:r>
          </a:p>
        </p:txBody>
      </p:sp>
      <p:cxnSp>
        <p:nvCxnSpPr>
          <p:cNvPr id="19" name="Connector 18"/>
          <p:cNvCxnSpPr/>
          <p:nvPr/>
        </p:nvCxnSpPr>
        <p:spPr>
          <a:xfrm>
            <a:off x="3154680" y="2075688"/>
            <a:ext cx="2148840" cy="210312"/>
          </a:xfrm>
          <a:prstGeom prst="line">
            <a:avLst/>
          </a:prstGeom>
          <a:ln w="22225">
            <a:solidFill>
              <a:srgbClr val="0F6E6B"/>
            </a:solidFill>
            <a:tailEnd type="triangle" w="med" len="med"/>
          </a:ln>
        </p:spPr>
      </p:cxnSp>
      <p:cxnSp>
        <p:nvCxnSpPr>
          <p:cNvPr id="20" name="Connector 19"/>
          <p:cNvCxnSpPr/>
          <p:nvPr/>
        </p:nvCxnSpPr>
        <p:spPr>
          <a:xfrm flipH="1">
            <a:off x="6858000" y="2075688"/>
            <a:ext cx="2148840" cy="210312"/>
          </a:xfrm>
          <a:prstGeom prst="line">
            <a:avLst/>
          </a:prstGeom>
          <a:ln w="22225">
            <a:solidFill>
              <a:srgbClr val="0F6E6B"/>
            </a:solidFill>
            <a:tailEnd type="triangle" w="med" len="med"/>
          </a:ln>
        </p:spPr>
      </p:cxnSp>
      <p:sp>
        <p:nvSpPr>
          <p:cNvPr id="21" name="Process 20"/>
          <p:cNvSpPr/>
          <p:nvPr/>
        </p:nvSpPr>
        <p:spPr>
          <a:xfrm>
            <a:off x="320040" y="3474720"/>
            <a:ext cx="5669280" cy="777240"/>
          </a:xfrm>
          <a:prstGeom prst="flowChartProcess">
            <a:avLst/>
          </a:prstGeom>
          <a:solidFill>
            <a:srgbClr val="E7F0FB"/>
          </a:solidFill>
          <a:ln w="15875">
            <a:solidFill>
              <a:srgbClr val="1D4E89"/>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b="1" sz="1300">
                <a:solidFill>
                  <a:srgbClr val="1D4E89"/>
                </a:solidFill>
                <a:latin typeface="Calibri"/>
              </a:rPr>
              <a:t>You</a:t>
            </a:r>
          </a:p>
          <a:p>
            <a:pPr algn="ctr">
              <a:spcBef>
                <a:spcPts val="200"/>
              </a:spcBef>
            </a:pPr>
            <a:r>
              <a:rPr sz="1300">
                <a:solidFill>
                  <a:srgbClr val="1C1917"/>
                </a:solidFill>
                <a:latin typeface="Calibri"/>
              </a:rPr>
              <a:t>Preview shows yellow marks on the words that were rewritten</a:t>
            </a:r>
          </a:p>
        </p:txBody>
      </p:sp>
      <p:sp>
        <p:nvSpPr>
          <p:cNvPr id="22" name="Process 21"/>
          <p:cNvSpPr/>
          <p:nvPr/>
        </p:nvSpPr>
        <p:spPr>
          <a:xfrm>
            <a:off x="6217920" y="3474720"/>
            <a:ext cx="5623560" cy="777240"/>
          </a:xfrm>
          <a:prstGeom prst="flowChartProcess">
            <a:avLst/>
          </a:prstGeom>
          <a:solidFill>
            <a:srgbClr val="E7F0FB"/>
          </a:solidFill>
          <a:ln w="15875">
            <a:solidFill>
              <a:srgbClr val="1D4E89"/>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b="1" sz="1300">
                <a:solidFill>
                  <a:srgbClr val="1D4E89"/>
                </a:solidFill>
                <a:latin typeface="Calibri"/>
              </a:rPr>
              <a:t>You</a:t>
            </a:r>
          </a:p>
          <a:p>
            <a:pPr algn="ctr">
              <a:spcBef>
                <a:spcPts val="200"/>
              </a:spcBef>
            </a:pPr>
            <a:r>
              <a:rPr sz="1300">
                <a:solidFill>
                  <a:srgbClr val="1C1917"/>
                </a:solidFill>
                <a:latin typeface="Calibri"/>
              </a:rPr>
              <a:t>Preview shows the pages with no marks</a:t>
            </a:r>
          </a:p>
        </p:txBody>
      </p:sp>
      <p:sp>
        <p:nvSpPr>
          <p:cNvPr id="23" name="TextBox 22"/>
          <p:cNvSpPr txBox="1"/>
          <p:nvPr/>
        </p:nvSpPr>
        <p:spPr>
          <a:xfrm>
            <a:off x="1371600" y="3200400"/>
            <a:ext cx="548640" cy="237744"/>
          </a:xfrm>
          <a:prstGeom prst="rect">
            <a:avLst/>
          </a:prstGeom>
          <a:noFill/>
        </p:spPr>
        <p:txBody>
          <a:bodyPr wrap="square">
            <a:spAutoFit/>
          </a:bodyPr>
          <a:lstStyle/>
          <a:p>
            <a:pPr algn="l"/>
            <a:r>
              <a:rPr sz="1300" b="1">
                <a:solidFill>
                  <a:srgbClr val="145C38"/>
                </a:solidFill>
                <a:latin typeface="Calibri"/>
              </a:rPr>
              <a:t>Yes</a:t>
            </a:r>
          </a:p>
        </p:txBody>
      </p:sp>
      <p:sp>
        <p:nvSpPr>
          <p:cNvPr id="24" name="TextBox 23"/>
          <p:cNvSpPr txBox="1"/>
          <p:nvPr/>
        </p:nvSpPr>
        <p:spPr>
          <a:xfrm>
            <a:off x="10881360" y="3200400"/>
            <a:ext cx="457200" cy="237744"/>
          </a:xfrm>
          <a:prstGeom prst="rect">
            <a:avLst/>
          </a:prstGeom>
          <a:noFill/>
        </p:spPr>
        <p:txBody>
          <a:bodyPr wrap="square">
            <a:spAutoFit/>
          </a:bodyPr>
          <a:lstStyle/>
          <a:p>
            <a:pPr algn="l"/>
            <a:r>
              <a:rPr sz="1300" b="1">
                <a:solidFill>
                  <a:srgbClr val="9A3412"/>
                </a:solidFill>
                <a:latin typeface="Calibri"/>
              </a:rPr>
              <a:t>No</a:t>
            </a:r>
          </a:p>
        </p:txBody>
      </p:sp>
      <p:cxnSp>
        <p:nvCxnSpPr>
          <p:cNvPr id="25" name="Connector 24"/>
          <p:cNvCxnSpPr/>
          <p:nvPr/>
        </p:nvCxnSpPr>
        <p:spPr>
          <a:xfrm flipH="1">
            <a:off x="3108960" y="3246120"/>
            <a:ext cx="2103120" cy="228600"/>
          </a:xfrm>
          <a:prstGeom prst="line">
            <a:avLst/>
          </a:prstGeom>
          <a:ln w="22225">
            <a:solidFill>
              <a:srgbClr val="0F6E6B"/>
            </a:solidFill>
            <a:tailEnd type="triangle" w="med" len="med"/>
          </a:ln>
        </p:spPr>
      </p:cxnSp>
      <p:cxnSp>
        <p:nvCxnSpPr>
          <p:cNvPr id="26" name="Connector 25"/>
          <p:cNvCxnSpPr/>
          <p:nvPr/>
        </p:nvCxnSpPr>
        <p:spPr>
          <a:xfrm>
            <a:off x="6949440" y="3246120"/>
            <a:ext cx="2011680" cy="228600"/>
          </a:xfrm>
          <a:prstGeom prst="line">
            <a:avLst/>
          </a:prstGeom>
          <a:ln w="22225">
            <a:solidFill>
              <a:srgbClr val="0F6E6B"/>
            </a:solidFill>
            <a:tailEnd type="triangle" w="med" len="med"/>
          </a:ln>
        </p:spPr>
      </p:cxnSp>
      <p:sp>
        <p:nvSpPr>
          <p:cNvPr id="27" name="Document 26"/>
          <p:cNvSpPr/>
          <p:nvPr/>
        </p:nvSpPr>
        <p:spPr>
          <a:xfrm>
            <a:off x="2103120" y="4434840"/>
            <a:ext cx="7955279" cy="640080"/>
          </a:xfrm>
          <a:prstGeom prst="flowChartDocument">
            <a:avLst/>
          </a:prstGeom>
          <a:solidFill>
            <a:srgbClr val="E5F6F4"/>
          </a:solidFill>
          <a:ln w="15875">
            <a:solidFill>
              <a:srgbClr val="0F6E6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b="1" sz="1300">
                <a:solidFill>
                  <a:srgbClr val="0F6E6B"/>
                </a:solidFill>
                <a:latin typeface="Calibri"/>
              </a:rPr>
              <a:t>You</a:t>
            </a:r>
          </a:p>
          <a:p>
            <a:pPr algn="ctr">
              <a:spcBef>
                <a:spcPts val="200"/>
              </a:spcBef>
            </a:pPr>
            <a:r>
              <a:rPr sz="1300">
                <a:solidFill>
                  <a:srgbClr val="1C1917"/>
                </a:solidFill>
                <a:latin typeface="Calibri"/>
              </a:rPr>
              <a:t>Download the PDF. The yellow marks are never in that file.</a:t>
            </a:r>
          </a:p>
        </p:txBody>
      </p:sp>
      <p:cxnSp>
        <p:nvCxnSpPr>
          <p:cNvPr id="28" name="Connector 27"/>
          <p:cNvCxnSpPr/>
          <p:nvPr/>
        </p:nvCxnSpPr>
        <p:spPr>
          <a:xfrm>
            <a:off x="3154680" y="4251960"/>
            <a:ext cx="1874520" cy="182880"/>
          </a:xfrm>
          <a:prstGeom prst="line">
            <a:avLst/>
          </a:prstGeom>
          <a:ln w="22225">
            <a:solidFill>
              <a:srgbClr val="0F6E6B"/>
            </a:solidFill>
            <a:tailEnd type="triangle" w="med" len="med"/>
          </a:ln>
        </p:spPr>
      </p:cxnSp>
      <p:cxnSp>
        <p:nvCxnSpPr>
          <p:cNvPr id="29" name="Connector 28"/>
          <p:cNvCxnSpPr/>
          <p:nvPr/>
        </p:nvCxnSpPr>
        <p:spPr>
          <a:xfrm flipH="1">
            <a:off x="7132320" y="4251960"/>
            <a:ext cx="1874520" cy="182880"/>
          </a:xfrm>
          <a:prstGeom prst="line">
            <a:avLst/>
          </a:prstGeom>
          <a:ln w="22225">
            <a:solidFill>
              <a:srgbClr val="0F6E6B"/>
            </a:solidFill>
            <a:tailEnd type="triangle" w="med" len="med"/>
          </a:ln>
        </p:spPr>
      </p:cxnSp>
      <p:sp>
        <p:nvSpPr>
          <p:cNvPr id="30" name="Process 29"/>
          <p:cNvSpPr/>
          <p:nvPr/>
        </p:nvSpPr>
        <p:spPr>
          <a:xfrm>
            <a:off x="2103120" y="5212080"/>
            <a:ext cx="5760720" cy="640080"/>
          </a:xfrm>
          <a:prstGeom prst="flowChartProcess">
            <a:avLst/>
          </a:prstGeom>
          <a:solidFill>
            <a:srgbClr val="F4ECFF"/>
          </a:solidFill>
          <a:ln w="15875">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b="1" sz="1300">
                <a:solidFill>
                  <a:srgbClr val="6D28D9"/>
                </a:solidFill>
                <a:latin typeface="Calibri"/>
              </a:rPr>
              <a:t>By hand</a:t>
            </a:r>
          </a:p>
          <a:p>
            <a:pPr algn="ctr">
              <a:spcBef>
                <a:spcPts val="200"/>
              </a:spcBef>
            </a:pPr>
            <a:r>
              <a:rPr sz="1200">
                <a:solidFill>
                  <a:srgbClr val="1C1917"/>
                </a:solidFill>
                <a:latin typeface="Calibri"/>
              </a:rPr>
              <a:t>Send the email. The draft is ready. The application does not send it.</a:t>
            </a:r>
          </a:p>
        </p:txBody>
      </p:sp>
      <p:sp>
        <p:nvSpPr>
          <p:cNvPr id="31" name="Terminator 30"/>
          <p:cNvSpPr/>
          <p:nvPr/>
        </p:nvSpPr>
        <p:spPr>
          <a:xfrm>
            <a:off x="8138160" y="5193792"/>
            <a:ext cx="1645920" cy="658368"/>
          </a:xfrm>
          <a:prstGeom prst="flowChartTerminator">
            <a:avLst/>
          </a:prstGeom>
          <a:solidFill>
            <a:srgbClr val="1B7A4A"/>
          </a:solidFill>
          <a:ln w="1587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b="1" sz="1300">
                <a:solidFill>
                  <a:srgbClr val="145C38"/>
                </a:solidFill>
                <a:latin typeface="Calibri"/>
              </a:rPr>
              <a:t>End</a:t>
            </a:r>
          </a:p>
        </p:txBody>
      </p:sp>
      <p:cxnSp>
        <p:nvCxnSpPr>
          <p:cNvPr id="32" name="Connector 31"/>
          <p:cNvCxnSpPr/>
          <p:nvPr/>
        </p:nvCxnSpPr>
        <p:spPr>
          <a:xfrm>
            <a:off x="6080760" y="5074920"/>
            <a:ext cx="0" cy="137160"/>
          </a:xfrm>
          <a:prstGeom prst="line">
            <a:avLst/>
          </a:prstGeom>
          <a:ln w="22225">
            <a:solidFill>
              <a:srgbClr val="0F6E6B"/>
            </a:solidFill>
            <a:tailEnd type="triangle" w="med" len="med"/>
          </a:ln>
        </p:spPr>
      </p:cxnSp>
      <p:cxnSp>
        <p:nvCxnSpPr>
          <p:cNvPr id="33" name="Connector 32"/>
          <p:cNvCxnSpPr/>
          <p:nvPr/>
        </p:nvCxnSpPr>
        <p:spPr>
          <a:xfrm>
            <a:off x="7863840" y="5532120"/>
            <a:ext cx="274320" cy="0"/>
          </a:xfrm>
          <a:prstGeom prst="line">
            <a:avLst/>
          </a:prstGeom>
          <a:ln w="22225">
            <a:solidFill>
              <a:srgbClr val="0F6E6B"/>
            </a:solidFill>
            <a:tailEnd type="triangle" w="med" len="med"/>
          </a:ln>
        </p:spPr>
      </p:cxnSp>
      <p:sp>
        <p:nvSpPr>
          <p:cNvPr id="34" name="Rounded Rectangle 33"/>
          <p:cNvSpPr/>
          <p:nvPr/>
        </p:nvSpPr>
        <p:spPr>
          <a:xfrm>
            <a:off x="320040" y="5989320"/>
            <a:ext cx="11521440" cy="658368"/>
          </a:xfrm>
          <a:prstGeom prst="roundRect">
            <a:avLst/>
          </a:prstGeom>
          <a:solidFill>
            <a:srgbClr val="FFFBF0"/>
          </a:solidFill>
          <a:ln>
            <a:solidFill>
              <a:srgbClr val="A16207"/>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b="1" sz="1300">
                <a:solidFill>
                  <a:srgbClr val="A16207"/>
                </a:solidFill>
                <a:latin typeface="Calibri"/>
              </a:rPr>
              <a:t>Still by hand</a:t>
            </a:r>
          </a:p>
          <a:p>
            <a:pPr algn="ctr">
              <a:spcBef>
                <a:spcPts val="200"/>
              </a:spcBef>
            </a:pPr>
            <a:r>
              <a:rPr sz="1200">
                <a:solidFill>
                  <a:srgbClr val="1C1917"/>
                </a:solidFill>
                <a:latin typeface="Calibri"/>
              </a:rPr>
              <a:t>Claim the plan on the Testing Log. Convert a non-PDF. Check other company names. Fill FIS, related plans, MEP, and safe harbor on the log.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the application works</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