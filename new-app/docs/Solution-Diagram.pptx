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554480"/>
            <a:ext cx="12191695" cy="3108960"/>
          </a:xfrm>
          <a:prstGeom prst="rect">
            <a:avLst/>
          </a:prstGeom>
          <a:solidFill>
            <a:srgbClr val="0F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72800" cy="2194560"/>
          </a:xfrm>
          <a:prstGeom prst="rect">
            <a:avLst/>
          </a:prstGeom>
          <a:noFill/>
        </p:spPr>
        <p:txBody>
          <a:bodyPr wrap="square" lIns="36576" rIns="36576" tIns="18288" anchor="t"/>
          <a:lstStyle/>
          <a:p>
            <a:pPr algn="l">
              <a:spcAft>
                <a:spcPts val="2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MOA Valuation Package</a:t>
            </a:r>
          </a:p>
          <a:p>
            <a:pPr algn="l">
              <a:spcAft>
                <a:spcPts val="200"/>
              </a:spcAft>
            </a:pPr>
            <a:r>
              <a:rPr sz="2200" b="0">
                <a:solidFill>
                  <a:srgbClr val="BFDBFE"/>
                </a:solidFill>
                <a:latin typeface="Calibri"/>
              </a:rPr>
              <a:t>From the manual process to the application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93C5FD"/>
                </a:solidFill>
                <a:latin typeface="Calibri"/>
              </a:rPr>
              <a:t>Solution diagram  ·  requirements: assembly and 401(k)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972800" cy="1097280"/>
          </a:xfrm>
          <a:prstGeom prst="rect">
            <a:avLst/>
          </a:prstGeom>
          <a:noFill/>
        </p:spPr>
        <p:txBody>
          <a:bodyPr wrap="square" lIns="36576" rIns="36576" tIns="18288" anchor="t"/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1A1F2E"/>
                </a:solidFill>
                <a:latin typeface="Calibri"/>
              </a:rPr>
              <a:t>The requirements document is the manual Adobe and Excel procedure.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The application automates combine, order, keep/remove, amounts, bookmarks, the file name, the email draft, and the assembly log.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56032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anchor="t"/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0F2C4C"/>
                </a:solidFill>
                <a:latin typeface="Calibri"/>
              </a:rPr>
              <a:t>Manual process  vs  the application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60120"/>
            <a:ext cx="5577840" cy="5394960"/>
          </a:xfrm>
          <a:prstGeom prst="roundRect">
            <a:avLst>
              <a:gd name="adj" fmla="val 12000"/>
            </a:avLst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TODAY — BY HAND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Claim the plan on the assembly log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Open the Valuation Package folder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Adobe Combine: drag files into order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Delete pages that should not ship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Type QNEC and refund amounts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Add bookmarks one by one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Save PlanNumber_Year-Valuation.pdf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Write the tester email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Type the log date, time, and file name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960120"/>
            <a:ext cx="5532120" cy="5394960"/>
          </a:xfrm>
          <a:prstGeom prst="roundRect">
            <a:avLst>
              <a:gd name="adj" fmla="val 12000"/>
            </a:avLst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APPLICATION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Reviewer still claims the plan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Upload PDFs or paste the folder path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Auto-order from file-name keywords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Rules remove unused paragraphs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Amounts filled from the plan profile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Bookmarks written for remaining sections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Same file name, beginning plan year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Outlook draft ready to send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Log row appended at assembly time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0972800" cy="411480"/>
          </a:xfrm>
          <a:prstGeom prst="rect">
            <a:avLst/>
          </a:prstGeom>
          <a:noFill/>
        </p:spPr>
        <p:txBody>
          <a:bodyPr wrap="square" lIns="36576" rIns="36576" tIns="18288" anchor="t"/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0F2C4C"/>
                </a:solidFill>
                <a:latin typeface="Calibri"/>
              </a:rPr>
              <a:t>How a package moves through the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20040"/>
          </a:xfrm>
          <a:prstGeom prst="rect">
            <a:avLst/>
          </a:prstGeom>
          <a:noFill/>
        </p:spPr>
        <p:txBody>
          <a:bodyPr wrap="square" lIns="36576" rIns="36576" tIns="18288" anchor="t"/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475569"/>
                </a:solidFill>
                <a:latin typeface="Calibri"/>
              </a:rPr>
              <a:t>One PC. Browser and application together. No separate server.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234440"/>
            <a:ext cx="2148840" cy="2331720"/>
          </a:xfrm>
          <a:prstGeom prst="roundRect">
            <a:avLst>
              <a:gd name="adj" fmla="val 1200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   Reviewer</a:t>
            </a:r>
          </a:p>
          <a:p>
            <a:pPr algn="ctr">
              <a:spcAft>
                <a:spcPts val="200"/>
              </a:spcAft>
            </a:pPr>
            <a:r>
              <a:rPr sz="6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Upload PDFs
or paste the
folder path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1234440"/>
            <a:ext cx="2148840" cy="2331720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   Order</a:t>
            </a:r>
          </a:p>
          <a:p>
            <a:pPr algn="ctr">
              <a:spcAft>
                <a:spcPts val="200"/>
              </a:spcAft>
            </a:pPr>
            <a:r>
              <a:rPr sz="6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Keyword order
Cover split into
named pages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83480" y="1234440"/>
            <a:ext cx="2148840" cy="2331720"/>
          </a:xfrm>
          <a:prstGeom prst="roundRect">
            <a:avLst>
              <a:gd name="adj" fmla="val 12000"/>
            </a:avLst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   Read facts</a:t>
            </a:r>
          </a:p>
          <a:p>
            <a:pPr algn="ctr">
              <a:spcAft>
                <a:spcPts val="200"/>
              </a:spcAft>
            </a:pPr>
            <a:r>
              <a:rPr sz="6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Plan number,
pass/fail, QNEC,
401(k), 403(b), or 457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1234440"/>
            <a:ext cx="2148840" cy="2331720"/>
          </a:xfrm>
          <a:prstGeom prst="roundRect">
            <a:avLst>
              <a:gd name="adj" fmla="val 12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   Apply rules</a:t>
            </a:r>
          </a:p>
          <a:p>
            <a:pPr algn="ctr">
              <a:spcAft>
                <a:spcPts val="200"/>
              </a:spcAft>
            </a:pPr>
            <a:r>
              <a:rPr sz="6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Keep or remove
Fill amounts
Cover date and 402(g)
HCE % only if checked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46920" y="1234440"/>
            <a:ext cx="2148840" cy="2331720"/>
          </a:xfrm>
          <a:prstGeom prst="roundRect">
            <a:avLst>
              <a:gd name="adj" fmla="val 12000"/>
            </a:avLst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5   Save</a:t>
            </a:r>
          </a:p>
          <a:p>
            <a:pPr algn="ctr">
              <a:spcAft>
                <a:spcPts val="200"/>
              </a:spcAft>
            </a:pPr>
            <a:r>
              <a:rPr sz="6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Named PDF
Email draft
Assembly log
unless a check stops it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331720" y="2148840"/>
            <a:ext cx="292608" cy="256032"/>
          </a:xfrm>
          <a:prstGeom prst="rightArrow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4663440" y="2148840"/>
            <a:ext cx="292608" cy="256032"/>
          </a:xfrm>
          <a:prstGeom prst="rightArrow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6995160" y="2148840"/>
            <a:ext cx="292608" cy="256032"/>
          </a:xfrm>
          <a:prstGeom prst="rightArrow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9326880" y="2148840"/>
            <a:ext cx="292608" cy="256032"/>
          </a:xfrm>
          <a:prstGeom prst="rightArrow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20040" y="3840480"/>
            <a:ext cx="11521440" cy="1051560"/>
          </a:xfrm>
          <a:prstGeom prst="roundRect">
            <a:avLst>
              <a:gd name="adj" fmla="val 12000"/>
            </a:avLst>
          </a:prstGeom>
          <a:solidFill>
            <a:srgbClr val="0F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Reviewer previews with highlights on or off, downloads the clean PDF, and sends the email draft.</a:t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BFDBFE"/>
                </a:solidFill>
                <a:latin typeface="Calibri"/>
              </a:rPr>
              <a:t>Assembly stops is on by default and does not save a failed package. A Valuation Package folder also saves a copy in the Testing folder.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5120640"/>
            <a:ext cx="2331720" cy="502920"/>
          </a:xfrm>
          <a:prstGeom prst="roundRect">
            <a:avLst>
              <a:gd name="adj" fmla="val 1200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Browser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965960" y="5120640"/>
            <a:ext cx="2331720" cy="502920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http://127.0.0.1:8002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09160" y="5120640"/>
            <a:ext cx="2331720" cy="502920"/>
          </a:xfrm>
          <a:prstGeom prst="roundRect">
            <a:avLst>
              <a:gd name="adj" fmla="val 12000"/>
            </a:avLst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Plan Profile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03720" y="5120640"/>
            <a:ext cx="2331720" cy="502920"/>
          </a:xfrm>
          <a:prstGeom prst="roundRect">
            <a:avLst>
              <a:gd name="adj" fmla="val 12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Requirements rules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64040" y="5120640"/>
            <a:ext cx="2377440" cy="502920"/>
          </a:xfrm>
          <a:prstGeom prst="roundRect">
            <a:avLst>
              <a:gd name="adj" fmla="val 12000"/>
            </a:avLst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PDF  ·  .eml  ·  log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5852160"/>
            <a:ext cx="11338560" cy="640080"/>
          </a:xfrm>
          <a:prstGeom prst="rect">
            <a:avLst/>
          </a:prstGeom>
          <a:noFill/>
        </p:spPr>
        <p:txBody>
          <a:bodyPr wrap="square" lIns="36576" rIns="36576" tIns="18288" anchor="t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A1F2E"/>
                </a:solidFill>
                <a:latin typeface="Calibri"/>
              </a:rPr>
              <a:t>File name: {Plan Number}_{Beginning Plan Year}-Valuation.pdf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Calibri"/>
              </a:rPr>
              <a:t>Off-calendar example: 10/01/2017–09/30/2018 saves as 2017.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0972800" cy="411480"/>
          </a:xfrm>
          <a:prstGeom prst="rect">
            <a:avLst/>
          </a:prstGeom>
          <a:noFill/>
        </p:spPr>
        <p:txBody>
          <a:bodyPr wrap="square" lIns="36576" rIns="36576" tIns="18288" anchor="t"/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0F2C4C"/>
                </a:solidFill>
                <a:latin typeface="Calibri"/>
              </a:rPr>
              <a:t>What the rules automate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20040"/>
          </a:xfrm>
          <a:prstGeom prst="rect">
            <a:avLst/>
          </a:prstGeom>
          <a:noFill/>
        </p:spPr>
        <p:txBody>
          <a:bodyPr wrap="square" lIns="36576" rIns="36576" tIns="18288" anchor="t"/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475569"/>
                </a:solidFill>
                <a:latin typeface="Calibri"/>
              </a:rPr>
              <a:t>Each item is kept or removed from facts read off the package — not retyped by the reviewer.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188720"/>
            <a:ext cx="2743200" cy="502920"/>
          </a:xfrm>
          <a:prstGeom prst="roundRect">
            <a:avLst>
              <a:gd name="adj" fmla="val 2000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Action Required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783080"/>
            <a:ext cx="2743200" cy="3063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F2E"/>
                </a:solidFill>
                <a:latin typeface="Calibri"/>
              </a:rPr>
              <a:t>Compliance failure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F2E"/>
                </a:solidFill>
                <a:latin typeface="Calibri"/>
              </a:rPr>
              <a:t>PRIOR and CURRENT ADP/ACP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F2E"/>
                </a:solidFill>
                <a:latin typeface="Calibri"/>
              </a:rPr>
              <a:t>After 12 months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F2E"/>
                </a:solidFill>
                <a:latin typeface="Calibri"/>
              </a:rPr>
              <a:t>Top heavy above 60%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F2E"/>
                </a:solidFill>
                <a:latin typeface="Calibri"/>
              </a:rPr>
              <a:t>Variance and contributions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F2E"/>
                </a:solidFill>
                <a:latin typeface="Calibri"/>
              </a:rPr>
              <a:t>No immediate action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1188720"/>
            <a:ext cx="2743200" cy="50292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Notices and letters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1783080"/>
            <a:ext cx="2743200" cy="3063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F2E"/>
                </a:solidFill>
                <a:latin typeface="Calibri"/>
              </a:rPr>
              <a:t>CURRENT notice + QNEC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F2E"/>
                </a:solidFill>
                <a:latin typeface="Calibri"/>
              </a:rPr>
              <a:t>After-12 refunds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F2E"/>
                </a:solidFill>
                <a:latin typeface="Calibri"/>
              </a:rPr>
              <a:t>ADP letter and ACP letter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F2E"/>
                </a:solidFill>
                <a:latin typeface="Calibri"/>
              </a:rPr>
              <a:t>402(g) letter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F2E"/>
                </a:solidFill>
                <a:latin typeface="Calibri"/>
              </a:rPr>
              <a:t>415 information and letter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188720"/>
            <a:ext cx="2743200" cy="502920"/>
          </a:xfrm>
          <a:prstGeom prst="roundRect">
            <a:avLst>
              <a:gd name="adj" fmla="val 20000"/>
            </a:avLst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Package content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783080"/>
            <a:ext cx="2743200" cy="3063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F2E"/>
                </a:solidFill>
                <a:latin typeface="Calibri"/>
              </a:rPr>
              <a:t>Excess Summary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F2E"/>
                </a:solidFill>
                <a:latin typeface="Calibri"/>
              </a:rPr>
              <a:t>Year End Recap bullets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F2E"/>
                </a:solidFill>
                <a:latin typeface="Calibri"/>
              </a:rPr>
              <a:t>Compliance reports stay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F2E"/>
                </a:solidFill>
                <a:latin typeface="Calibri"/>
              </a:rPr>
              <a:t>Bookmarks for sections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F2E"/>
                </a:solidFill>
                <a:latin typeface="Calibri"/>
              </a:rPr>
              <a:t>that remain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98280" y="1188720"/>
            <a:ext cx="2743200" cy="502920"/>
          </a:xfrm>
          <a:prstGeom prst="roundRect">
            <a:avLst>
              <a:gd name="adj" fmla="val 20000"/>
            </a:avLst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Checks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98280" y="1783080"/>
            <a:ext cx="2743200" cy="3063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F2E"/>
                </a:solidFill>
                <a:latin typeface="Calibri"/>
              </a:rPr>
              <a:t>Company, address, plan,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F2E"/>
                </a:solidFill>
                <a:latin typeface="Calibri"/>
              </a:rPr>
              <a:t>plan year end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F2E"/>
                </a:solidFill>
                <a:latin typeface="Calibri"/>
              </a:rPr>
              <a:t>Mutual of America stamp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F2E"/>
                </a:solidFill>
                <a:latin typeface="Calibri"/>
              </a:rPr>
              <a:t>SSN pattern flagged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F2E"/>
                </a:solidFill>
                <a:latin typeface="Calibri"/>
              </a:rPr>
              <a:t>403(b): HCE bookmark, BRF kept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" y="5074920"/>
            <a:ext cx="11521440" cy="1325880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B45309"/>
                </a:solidFill>
                <a:latin typeface="Calibri"/>
              </a:rPr>
              <a:t>Still done by the reviewer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A1F2E"/>
                </a:solidFill>
                <a:latin typeface="Calibri"/>
              </a:rPr>
              <a:t>Claim the plan on the Testing Log. Send the email. Confirm no other company name on the cover.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Cover date and off-calendar 402(g) dates change on every Process. HCE % changes only when Retype 402(g) dates and HCE % is checked. A dropped non-PDF is not converted.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